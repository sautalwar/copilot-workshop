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914400"/>
            <a:ext cx="73152" cy="1645920"/>
          </a:xfrm>
          <a:prstGeom prst="round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8636"/>
                </a:solidFill>
                <a:latin typeface="Segoe UI"/>
              </a:defRPr>
            </a:pPr>
            <a:r>
              <a:t>GitHub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Migration &amp; Resilience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GHES → GHEC Migration  •  HA Replica &amp; Geo-Replication  •  Backup &amp; DR  •  Zero to Agent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45-Minute Session  |  Condensed Architecture + Hands-On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GitHub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Zero to Agent — Training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From Copilot basics to building custom agents in 45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Welcome &amp; Setup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Environment checks, Copilot extension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9968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Copilot Fundamentals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Chat vs Agent, prompt engineering, context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96896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700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Hands-On Coding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Building features in the Order Management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63824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369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Break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30752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039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Model Selection &amp; Advanced Features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Choosing the right model, Copilot 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708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Extensibility &amp; MCP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Custom agents, prompt files, instruction files, hooks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64608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Security &amp; Governance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Enterprise guardrails,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31536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04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046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Real-World Scenarios</a:t>
            </a:r>
            <a:r>
              <a:rPr sz="1300" b="0">
                <a:solidFill>
                  <a:srgbClr val="8B949E"/>
                </a:solidFill>
                <a:latin typeface="Segoe UI"/>
              </a:rPr>
              <a:t>  —  Code reviews, documentation, security scanning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998464"/>
            <a:ext cx="10698480" cy="502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716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7161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sz="1400" b="1">
                <a:solidFill>
                  <a:srgbClr val="FFFFFF"/>
                </a:solidFill>
                <a:latin typeface="Segoe UI"/>
              </a:rPr>
              <a:t>Q&amp;A &amp; 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Resilience Architecture — 4-Layer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Business continuity through defense-in-depth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1645920"/>
            <a:ext cx="548640" cy="54864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636"/>
                </a:solidFill>
                <a:latin typeface="Segoe UI"/>
              </a:defRPr>
            </a:pPr>
            <a:r>
              <a:t>GHEC (SaaS)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Primary collaboration platform</a:t>
            </a:r>
            <a:br/>
            <a:r>
              <a:t>Multi-region redundancy</a:t>
            </a:r>
            <a:br/>
            <a:r>
              <a:t>99.9% uptime SLA</a:t>
            </a:r>
            <a:br/>
            <a:r>
              <a:t>Git mirror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64592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GHES + HA Replica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Active/passive failover</a:t>
            </a:r>
            <a:br/>
            <a:r>
              <a:t>Geo-replication (up to 8 replicas)</a:t>
            </a:r>
            <a:br/>
            <a:r>
              <a:t>Full backup snapshots</a:t>
            </a:r>
            <a:br/>
            <a:r>
              <a:t>Air-gapped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D29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9E22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Geo-redundant storage (16 nines)</a:t>
            </a:r>
            <a:br/>
            <a:r>
              <a:t>Cross-region DR</a:t>
            </a:r>
            <a:br/>
            <a:r>
              <a:t>Lifecycle auto-tiering</a:t>
            </a:r>
            <a:br/>
            <a:r>
              <a:t>Hot → Cool → Archive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63040"/>
            <a:ext cx="2606040" cy="34747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04120" y="1645920"/>
            <a:ext cx="548640" cy="54864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Local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346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Air-gapped GHES instance</a:t>
            </a:r>
            <a:br/>
            <a:r>
              <a:t>Encrypted offline storage</a:t>
            </a:r>
            <a:br/>
            <a:r>
              <a:t>Cloud-independent ops</a:t>
            </a:r>
            <a:br/>
            <a:r>
              <a:t>Full chain of custody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64008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✅  Near-zero RPO  •  Sub-30-minute RTO  •  Every failure scenario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GHES → GHEC Migration &amp; Backup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Migration via GitHub Enterprise Importer (GEI)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1. Plan — Inventory repos, teams,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2. Trial — Run trial migrations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3. Migrate — Execute production migration (pause work!)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4. Validate — Verify data fidelity, review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5. Cutover — Redirect users, re-enable integrations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303520" cy="457200"/>
          </a:xfrm>
          <a:prstGeom prst="round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29E22"/>
                </a:solidFill>
                <a:latin typeface="Segoe UI"/>
              </a:defRPr>
            </a:pPr>
            <a:r>
              <a:t>⚠️  GEI does NOT support incremental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8636"/>
                </a:solidFill>
                <a:latin typeface="Segoe UI"/>
              </a:defRPr>
            </a:pPr>
            <a:r>
              <a:t>✅ Auto-migrates: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Git source  •  PRs with reviews  •  Issues  •  Wikis  •  Releases  •  Teams &amp; permissions  •  Branch protection → Rulesets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E22"/>
                </a:solidFill>
                <a:latin typeface="Segoe UI"/>
              </a:defRPr>
            </a:pPr>
            <a:r>
              <a:t>🔧 Manual work needed: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Webhooks  •  Actions secrets  •  Deploy keys  •  GitHub Apps  •  Packages  •  Repos &gt; 40 GB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05840"/>
            <a:ext cx="27432" cy="5029200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E22"/>
                </a:solidFill>
                <a:latin typeface="Segoe UI"/>
              </a:defRPr>
            </a:pPr>
            <a:r>
              <a:t>4-Layer Backup &amp; DR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8636"/>
                </a:solidFill>
                <a:latin typeface="Segoe UI"/>
              </a:defRPr>
            </a:pPr>
            <a:r>
              <a:t>Layer 1: Git Mirror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Daily/hourly git clone --mirror — full repo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8600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Layer 2: Metadata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Weekly REST/GraphQL export — issues, PRs, releases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6324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C8CFF"/>
                </a:solidFill>
                <a:latin typeface="Segoe UI"/>
              </a:defRPr>
            </a:pPr>
            <a:r>
              <a:t>Layer 3: GHES Snapshots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Incremental via backup-utils — zero downtime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5303520" cy="685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E22"/>
                </a:solidFill>
                <a:latin typeface="Segoe UI"/>
              </a:defRPr>
            </a:pPr>
            <a:r>
              <a:t>Layer 4: Azure GRS/GZRS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Geo-redundant cross-region — 16 nines durability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349"/>
                </a:solidFill>
                <a:latin typeface="Segoe UI"/>
              </a:defRPr>
            </a:pPr>
            <a:r>
              <a:t>Outage Playbooks: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A. GitHub.com outage → Failover to GHES</a:t>
            </a:r>
            <a:br/>
            <a:r>
              <a:t>B. Azure region outage → GRS failover to paired region</a:t>
            </a:r>
            <a:br/>
            <a:r>
              <a:t>C. Data corruption → Restore from mirror + metadata re-import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Responsibilities, Resources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636"/>
                </a:solidFill>
                <a:latin typeface="Segoe UI"/>
              </a:defRPr>
            </a:pPr>
            <a:r>
              <a:t>🛠️  DevOps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Execute mirror backups</a:t>
            </a:r>
            <a:br/>
            <a:r>
              <a:t>Manage GHES snapshots &amp; replicas</a:t>
            </a:r>
            <a:br/>
            <a:r>
              <a:t>Run recovery procedures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19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🔒 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Validate air-gapped controls</a:t>
            </a:r>
            <a:br/>
            <a:r>
              <a:t>Manage encryption keys</a:t>
            </a:r>
            <a:br/>
            <a:r>
              <a:t>Enforce retention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1097280"/>
            <a:ext cx="3566160" cy="14630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8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🤝  GitHub / Microsoft 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8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Segoe UI"/>
              </a:defRPr>
            </a:pPr>
            <a:r>
              <a:t>Architecture design support</a:t>
            </a:r>
            <a:br/>
            <a:r>
              <a:t>Migration assistance</a:t>
            </a:r>
            <a:br/>
            <a:r>
              <a:t>Escalation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Segoe UI"/>
              </a:defRPr>
            </a:pPr>
            <a:r>
              <a:t>🚀  Recommended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1.  Run trial GEI migration with 2-3 repos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2.  Deploy HA replica in separate AZ/region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3.  Implement automated git mirror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4.  Configure Azure GRS/GZRS + lifecycle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5.  Conduct tabletop exercise for each outage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📚  Official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 Mirror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docs.github.com/.../backing-up-a-repository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 Backup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github.com/github/backup-utils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GHES HA Replica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docs.github.com/.../creating-a-high-availability-replica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92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GHES Geo-Replication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docs.github.com/.../about-geo-replication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learn.microsoft.com/.../storage-redundancy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