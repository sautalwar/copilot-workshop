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Title Slide (1 min)</a:t>
            </a:r>
          </a:p>
          <a:p>
            <a:r>
              <a:t>Welcome everyone. Today we cover two areas:</a:t>
            </a:r>
          </a:p>
          <a:p>
            <a:r>
              <a:t>1. GitHub Migration &amp; Resilience Architecture — your roadmap for GHES-to-GHEC migration, HA replication, backup strategy, and outage playbooks.</a:t>
            </a:r>
          </a:p>
          <a:p>
            <a:r>
              <a:t>2. Zero to Agent Copilot Training — hands-on from Copilot basics to building with agents.</a:t>
            </a:r>
          </a:p>
          <a:p>
            <a:r>
              <a:t>45 minutes, fast pace.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Agenda (2 min)</a:t>
            </a:r>
          </a:p>
          <a:p>
            <a:r>
              <a:t>Here's our roadmap. Welcome &amp; Setup ensures everyone's environment is ready.</a:t>
            </a:r>
          </a:p>
          <a:p>
            <a:r>
              <a:t>Copilot Fundamentals covers Chat vs Agent, prompt engineering, context management.</a:t>
            </a:r>
          </a:p>
          <a:p>
            <a:r>
              <a:t>Hands-On Coding — we build real features in the Order Management System.</a:t>
            </a:r>
          </a:p>
          <a:p>
            <a:r>
              <a:t>After break: Model Selection, Extensibility &amp; MCP, Security &amp; Governance.</a:t>
            </a:r>
          </a:p>
          <a:p>
            <a:r>
              <a:t>Real-World Scenarios ties it together. We close with Q&amp;A.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Your Three Priorities (3 min)</a:t>
            </a:r>
          </a:p>
          <a:p>
            <a:r>
              <a:t>This slide frames the three big questions your leadership is asking.</a:t>
            </a:r>
          </a:p>
          <a:p/>
          <a:p>
            <a:r>
              <a:t>FIRST — Migration. Moving from GHES to GHEC gets you GitHub's managed SaaS with multi-region redundancy, automatic security updates, and the full Copilot experience. GEI handles the heavy lifting: repos, PRs, issues, teams, branch protection rules. The things that need manual work — webhooks, secrets, deploy keys — we'll plan for.</a:t>
            </a:r>
          </a:p>
          <a:p/>
          <a:p>
            <a:r>
              <a:t>SECOND — Resilience. We're not just moving to the cloud and hoping for the best. Our 4-layer architecture ensures that if ANY layer fails, another catches you. GHEC goes down? GHES keeps running. Azure region fails? GRS replicates to the paired region. Data gets corrupted? Git mirror backups + GHES snapshots give point-in-time recovery. Air-gapped instance means you can operate with zero cloud dependency.</a:t>
            </a:r>
          </a:p>
          <a:p/>
          <a:p>
            <a:r>
              <a:t>THIRD — Backup. This is the one that keeps security teams up at night. Our approach is defense-in-depth: git mirrors for repo history, API exports for metadata, GHES snapshots for full instance state, and Azure GRS for geo-redundant durability. Together: near-zero RPO, sub-30-minute RTO.</a:t>
            </a:r>
          </a:p>
          <a:p/>
          <a:p>
            <a:r>
              <a:t>The key message: migration is the beginning, not the end. Resilience and backup ensure your investment is protected.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Architecture Overview (5 min)</a:t>
            </a:r>
          </a:p>
          <a:p>
            <a:r>
              <a:t>Layer A — GHEC: Primary SaaS. Multi-region, 99.9% SLA, built-in security. Day-to-day collaboration happens here.</a:t>
            </a:r>
          </a:p>
          <a:p>
            <a:r>
              <a:t>Layer B — GHES + HA Replica: Self-hosted, active/passive failover, async replication. Promotable via CLI. Key: HA protects hardware failure, NOT corruption.</a:t>
            </a:r>
          </a:p>
          <a:p>
            <a:r>
              <a:t>Layer C — Azure GRS/GZRS: 16 nines durability. Stores mirrors, metadata, snapshots, LFS. Lifecycle: Hot → Cool → Archive saves 80%.</a:t>
            </a:r>
          </a:p>
          <a:p>
            <a:r>
              <a:t>Layer D — Local/Air-Gapped: Fully offline GHES + encrypted storage. Complete cloud independence.</a:t>
            </a:r>
          </a:p>
          <a:p>
            <a:r>
              <a:t>Together = near-zero RPO, sub-30-minute RTO.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Migration &amp; Backup (5 min)</a:t>
            </a:r>
          </a:p>
          <a:p>
            <a:r>
              <a:t>GEI migration: Plan → Trial → Migrate → Validate → Cutover. Critical: NO incremental migration — pause all work during production migration.</a:t>
            </a:r>
          </a:p>
          <a:p>
            <a:r>
              <a:t>Auto-migrates: Git source, PRs, issues, wikis, releases, teams, branch protection.</a:t>
            </a:r>
          </a:p>
          <a:p>
            <a:r>
              <a:t>Manual: Webhooks, secrets, deploy keys, Apps, Packages.</a:t>
            </a:r>
          </a:p>
          <a:p>
            <a:r>
              <a:t>4-Layer Backup: Git mirror (hourly), Metadata API (weekly), GHES snapshots (incremental, zero downtime), Azure GRS (geo-redundant).</a:t>
            </a:r>
          </a:p>
          <a:p>
            <a:r>
              <a:t>Outage playbooks: GitHub.com down → GHES, Azure down → paired region failover, Corruption → mirror restore + metadata re-import.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Next Steps (2 min)</a:t>
            </a:r>
          </a:p>
          <a:p>
            <a:r>
              <a:t>DevOps: mirror backups, GHES snapshots, recovery procedures.</a:t>
            </a:r>
          </a:p>
          <a:p>
            <a:r>
              <a:t>Security: air-gapped controls, encryption keys, retention policies.</a:t>
            </a:r>
          </a:p>
          <a:p>
            <a:r>
              <a:t>GitHub SE: architecture design, migration help, escalation.</a:t>
            </a:r>
          </a:p>
          <a:p>
            <a:r>
              <a:t>Action items: 1) Trial GEI with 2-3 repos, 2) Deploy HA replica, 3) Automate git mirrors, 4) Configure Azure GRS + lifecycle, 5) Tabletop exercises.</a:t>
            </a:r>
          </a:p>
          <a:p>
            <a:r>
              <a:t>All doc links on the slide. Now let's transition to Zero to Agent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457200" y="914400"/>
            <a:ext cx="73152" cy="1645920"/>
          </a:xfrm>
          <a:prstGeom prst="roundRect">
            <a:avLst/>
          </a:prstGeom>
          <a:solidFill>
            <a:srgbClr val="23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640080"/>
          </a:xfrm>
          <a:prstGeom prst="rect">
            <a:avLst/>
          </a:prstGeom>
          <a:noFill/>
        </p:spPr>
        <p:txBody>
          <a:bodyPr wrap="square">
            <a:spAutoFit/>
          </a:bodyPr>
          <a:lstStyle/>
          <a:p>
            <a:pPr algn="l">
              <a:defRPr sz="2000" b="1">
                <a:solidFill>
                  <a:srgbClr val="238636"/>
                </a:solidFill>
                <a:latin typeface="Segoe UI"/>
              </a:defRPr>
            </a:pPr>
            <a:r>
              <a:t>GitHub Enterprise</a:t>
            </a:r>
          </a:p>
        </p:txBody>
      </p:sp>
      <p:sp>
        <p:nvSpPr>
          <p:cNvPr id="4" name="TextBox 3"/>
          <p:cNvSpPr txBox="1"/>
          <p:nvPr/>
        </p:nvSpPr>
        <p:spPr>
          <a:xfrm>
            <a:off x="914400" y="1463040"/>
            <a:ext cx="9144000" cy="914400"/>
          </a:xfrm>
          <a:prstGeom prst="rect">
            <a:avLst/>
          </a:prstGeom>
          <a:noFill/>
        </p:spPr>
        <p:txBody>
          <a:bodyPr wrap="square">
            <a:spAutoFit/>
          </a:bodyPr>
          <a:lstStyle/>
          <a:p>
            <a:pPr algn="l">
              <a:defRPr sz="3600" b="1">
                <a:solidFill>
                  <a:srgbClr val="FFFFFF"/>
                </a:solidFill>
                <a:latin typeface="Segoe UI"/>
              </a:defRPr>
            </a:pPr>
            <a:r>
              <a:t>Migration &amp; Resilience Architecture</a:t>
            </a:r>
          </a:p>
        </p:txBody>
      </p:sp>
      <p:sp>
        <p:nvSpPr>
          <p:cNvPr id="5" name="TextBox 4"/>
          <p:cNvSpPr txBox="1"/>
          <p:nvPr/>
        </p:nvSpPr>
        <p:spPr>
          <a:xfrm>
            <a:off x="914400" y="2560320"/>
            <a:ext cx="9144000" cy="457200"/>
          </a:xfrm>
          <a:prstGeom prst="rect">
            <a:avLst/>
          </a:prstGeom>
          <a:noFill/>
        </p:spPr>
        <p:txBody>
          <a:bodyPr wrap="square">
            <a:spAutoFit/>
          </a:bodyPr>
          <a:lstStyle/>
          <a:p>
            <a:pPr algn="l">
              <a:defRPr sz="1400" b="0">
                <a:solidFill>
                  <a:srgbClr val="8B949E"/>
                </a:solidFill>
                <a:latin typeface="Segoe UI"/>
              </a:defRPr>
            </a:pPr>
            <a:r>
              <a:t>GHES → GHEC Migration  •  HA Replica &amp; Geo-Replication  •  Backup &amp; DR  •  Zero to Agent Training</a:t>
            </a:r>
          </a:p>
        </p:txBody>
      </p:sp>
      <p:sp>
        <p:nvSpPr>
          <p:cNvPr id="6" name="TextBox 5"/>
          <p:cNvSpPr txBox="1"/>
          <p:nvPr/>
        </p:nvSpPr>
        <p:spPr>
          <a:xfrm>
            <a:off x="914400" y="4114800"/>
            <a:ext cx="7315200" cy="365760"/>
          </a:xfrm>
          <a:prstGeom prst="rect">
            <a:avLst/>
          </a:prstGeom>
          <a:noFill/>
        </p:spPr>
        <p:txBody>
          <a:bodyPr wrap="square">
            <a:spAutoFit/>
          </a:bodyPr>
          <a:lstStyle/>
          <a:p>
            <a:pPr algn="l">
              <a:defRPr sz="1300" b="0">
                <a:solidFill>
                  <a:srgbClr val="C9D1D9"/>
                </a:solidFill>
                <a:latin typeface="Segoe UI"/>
              </a:defRPr>
            </a:pPr>
            <a:r>
              <a:t>45-Minute Session  |  Condensed Architecture + Hands-On Training</a:t>
            </a:r>
          </a:p>
        </p:txBody>
      </p:sp>
      <p:sp>
        <p:nvSpPr>
          <p:cNvPr id="7" name="TextBox 6"/>
          <p:cNvSpPr txBox="1"/>
          <p:nvPr/>
        </p:nvSpPr>
        <p:spPr>
          <a:xfrm>
            <a:off x="457200" y="6217920"/>
            <a:ext cx="4572000" cy="365760"/>
          </a:xfrm>
          <a:prstGeom prst="rect">
            <a:avLst/>
          </a:prstGeom>
          <a:noFill/>
        </p:spPr>
        <p:txBody>
          <a:bodyPr wrap="square">
            <a:spAutoFit/>
          </a:bodyPr>
          <a:lstStyle/>
          <a:p>
            <a:pPr algn="l">
              <a:defRPr sz="1000" b="0">
                <a:solidFill>
                  <a:srgbClr val="8B949E"/>
                </a:solidFill>
                <a:latin typeface="Segoe UI"/>
              </a:defRPr>
            </a:pPr>
            <a:r>
              <a:t>GitHub  |  Confidential</a:t>
            </a:r>
          </a:p>
        </p:txBody>
      </p:sp>
      <p:sp>
        <p:nvSpPr>
          <p:cNvPr id="8" name="TextBox 7"/>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Zero to Agent — Training Agenda</a:t>
            </a:r>
          </a:p>
        </p:txBody>
      </p:sp>
      <p:sp>
        <p:nvSpPr>
          <p:cNvPr id="3" name="TextBox 2"/>
          <p:cNvSpPr txBox="1"/>
          <p:nvPr/>
        </p:nvSpPr>
        <p:spPr>
          <a:xfrm>
            <a:off x="731520" y="914400"/>
            <a:ext cx="9144000" cy="365760"/>
          </a:xfrm>
          <a:prstGeom prst="rect">
            <a:avLst/>
          </a:prstGeom>
          <a:noFill/>
        </p:spPr>
        <p:txBody>
          <a:bodyPr wrap="square">
            <a:spAutoFit/>
          </a:bodyPr>
          <a:lstStyle/>
          <a:p>
            <a:pPr algn="l">
              <a:defRPr sz="1400" b="0">
                <a:solidFill>
                  <a:srgbClr val="8B949E"/>
                </a:solidFill>
                <a:latin typeface="Segoe UI"/>
              </a:defRPr>
            </a:pPr>
            <a:r>
              <a:t>From Copilot basics to building custom agents in 45 minutes</a:t>
            </a:r>
          </a:p>
        </p:txBody>
      </p:sp>
      <p:sp>
        <p:nvSpPr>
          <p:cNvPr id="4" name="Rounded Rectangle 3"/>
          <p:cNvSpPr/>
          <p:nvPr/>
        </p:nvSpPr>
        <p:spPr>
          <a:xfrm>
            <a:off x="731520" y="1463040"/>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36192"/>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6" name="TextBox 5"/>
          <p:cNvSpPr txBox="1"/>
          <p:nvPr/>
        </p:nvSpPr>
        <p:spPr>
          <a:xfrm>
            <a:off x="1371600" y="1536192"/>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Welcome &amp; Setup</a:t>
            </a:r>
            <a:r>
              <a:rPr sz="1300" b="0">
                <a:solidFill>
                  <a:srgbClr val="8B949E"/>
                </a:solidFill>
                <a:latin typeface="Segoe UI"/>
              </a:rPr>
              <a:t>  —  Environment checks, Copilot extension verification</a:t>
            </a:r>
          </a:p>
        </p:txBody>
      </p:sp>
      <p:sp>
        <p:nvSpPr>
          <p:cNvPr id="7" name="Rounded Rectangle 6"/>
          <p:cNvSpPr/>
          <p:nvPr/>
        </p:nvSpPr>
        <p:spPr>
          <a:xfrm>
            <a:off x="731520" y="2029968"/>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9" name="TextBox 8"/>
          <p:cNvSpPr txBox="1"/>
          <p:nvPr/>
        </p:nvSpPr>
        <p:spPr>
          <a:xfrm>
            <a:off x="1371600" y="2103120"/>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Copilot Fundamentals</a:t>
            </a:r>
            <a:r>
              <a:rPr sz="1300" b="0">
                <a:solidFill>
                  <a:srgbClr val="8B949E"/>
                </a:solidFill>
                <a:latin typeface="Segoe UI"/>
              </a:rPr>
              <a:t>  —  Chat vs Agent, prompt engineering, context management</a:t>
            </a:r>
          </a:p>
        </p:txBody>
      </p:sp>
      <p:sp>
        <p:nvSpPr>
          <p:cNvPr id="10" name="Rounded Rectangle 9"/>
          <p:cNvSpPr/>
          <p:nvPr/>
        </p:nvSpPr>
        <p:spPr>
          <a:xfrm>
            <a:off x="731520" y="2596896"/>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70048"/>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12" name="TextBox 11"/>
          <p:cNvSpPr txBox="1"/>
          <p:nvPr/>
        </p:nvSpPr>
        <p:spPr>
          <a:xfrm>
            <a:off x="1371600" y="2670048"/>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Hands-On Coding</a:t>
            </a:r>
            <a:r>
              <a:rPr sz="1300" b="0">
                <a:solidFill>
                  <a:srgbClr val="8B949E"/>
                </a:solidFill>
                <a:latin typeface="Segoe UI"/>
              </a:rPr>
              <a:t>  —  Building features in the Order Management System</a:t>
            </a:r>
          </a:p>
        </p:txBody>
      </p:sp>
      <p:sp>
        <p:nvSpPr>
          <p:cNvPr id="13" name="Rounded Rectangle 12"/>
          <p:cNvSpPr/>
          <p:nvPr/>
        </p:nvSpPr>
        <p:spPr>
          <a:xfrm>
            <a:off x="731520" y="3163824"/>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36976"/>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15" name="TextBox 14"/>
          <p:cNvSpPr txBox="1"/>
          <p:nvPr/>
        </p:nvSpPr>
        <p:spPr>
          <a:xfrm>
            <a:off x="1371600" y="3236976"/>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Break</a:t>
            </a:r>
          </a:p>
        </p:txBody>
      </p:sp>
      <p:sp>
        <p:nvSpPr>
          <p:cNvPr id="16" name="Rounded Rectangle 15"/>
          <p:cNvSpPr/>
          <p:nvPr/>
        </p:nvSpPr>
        <p:spPr>
          <a:xfrm>
            <a:off x="731520" y="3730752"/>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03904"/>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18" name="TextBox 17"/>
          <p:cNvSpPr txBox="1"/>
          <p:nvPr/>
        </p:nvSpPr>
        <p:spPr>
          <a:xfrm>
            <a:off x="1371600" y="3803904"/>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Model Selection &amp; Advanced Features</a:t>
            </a:r>
            <a:r>
              <a:rPr sz="1300" b="0">
                <a:solidFill>
                  <a:srgbClr val="8B949E"/>
                </a:solidFill>
                <a:latin typeface="Segoe UI"/>
              </a:rPr>
              <a:t>  —  Choosing the right model, Copilot Spaces</a:t>
            </a:r>
          </a:p>
        </p:txBody>
      </p:sp>
      <p:sp>
        <p:nvSpPr>
          <p:cNvPr id="19" name="Rounded Rectangle 18"/>
          <p:cNvSpPr/>
          <p:nvPr/>
        </p:nvSpPr>
        <p:spPr>
          <a:xfrm>
            <a:off x="731520" y="4297680"/>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370832"/>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21" name="TextBox 20"/>
          <p:cNvSpPr txBox="1"/>
          <p:nvPr/>
        </p:nvSpPr>
        <p:spPr>
          <a:xfrm>
            <a:off x="1371600" y="4370832"/>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Extensibility &amp; MCP</a:t>
            </a:r>
            <a:r>
              <a:rPr sz="1300" b="0">
                <a:solidFill>
                  <a:srgbClr val="8B949E"/>
                </a:solidFill>
                <a:latin typeface="Segoe UI"/>
              </a:rPr>
              <a:t>  —  Custom agents, prompt files, instruction files, hooks</a:t>
            </a:r>
          </a:p>
        </p:txBody>
      </p:sp>
      <p:sp>
        <p:nvSpPr>
          <p:cNvPr id="22" name="Rounded Rectangle 21"/>
          <p:cNvSpPr/>
          <p:nvPr/>
        </p:nvSpPr>
        <p:spPr>
          <a:xfrm>
            <a:off x="731520" y="4864608"/>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37760"/>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24" name="TextBox 23"/>
          <p:cNvSpPr txBox="1"/>
          <p:nvPr/>
        </p:nvSpPr>
        <p:spPr>
          <a:xfrm>
            <a:off x="1371600" y="4937760"/>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Security &amp; Governance</a:t>
            </a:r>
            <a:r>
              <a:rPr sz="1300" b="0">
                <a:solidFill>
                  <a:srgbClr val="8B949E"/>
                </a:solidFill>
                <a:latin typeface="Segoe UI"/>
              </a:rPr>
              <a:t>  —  Enterprise guardrails, compliance</a:t>
            </a:r>
          </a:p>
        </p:txBody>
      </p:sp>
      <p:sp>
        <p:nvSpPr>
          <p:cNvPr id="25" name="Rounded Rectangle 24"/>
          <p:cNvSpPr/>
          <p:nvPr/>
        </p:nvSpPr>
        <p:spPr>
          <a:xfrm>
            <a:off x="731520" y="5431536"/>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504688"/>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27" name="TextBox 26"/>
          <p:cNvSpPr txBox="1"/>
          <p:nvPr/>
        </p:nvSpPr>
        <p:spPr>
          <a:xfrm>
            <a:off x="1371600" y="5504688"/>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Real-World Scenarios</a:t>
            </a:r>
            <a:r>
              <a:rPr sz="1300" b="0">
                <a:solidFill>
                  <a:srgbClr val="8B949E"/>
                </a:solidFill>
                <a:latin typeface="Segoe UI"/>
              </a:rPr>
              <a:t>  —  Code reviews, documentation, security scanning</a:t>
            </a:r>
          </a:p>
        </p:txBody>
      </p:sp>
      <p:sp>
        <p:nvSpPr>
          <p:cNvPr id="28" name="Rounded Rectangle 27"/>
          <p:cNvSpPr/>
          <p:nvPr/>
        </p:nvSpPr>
        <p:spPr>
          <a:xfrm>
            <a:off x="731520" y="5998464"/>
            <a:ext cx="10698480" cy="5029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6071616"/>
            <a:ext cx="457200" cy="365760"/>
          </a:xfrm>
          <a:prstGeom prst="rect">
            <a:avLst/>
          </a:prstGeom>
          <a:noFill/>
        </p:spPr>
        <p:txBody>
          <a:bodyPr wrap="square">
            <a:spAutoFit/>
          </a:bodyPr>
          <a:lstStyle/>
          <a:p>
            <a:pPr algn="l">
              <a:defRPr sz="1600" b="0">
                <a:solidFill>
                  <a:srgbClr val="FFFFFF"/>
                </a:solidFill>
                <a:latin typeface="Segoe UI"/>
              </a:defRPr>
            </a:pPr>
            <a:r>
              <a:t>❓</a:t>
            </a:r>
          </a:p>
        </p:txBody>
      </p:sp>
      <p:sp>
        <p:nvSpPr>
          <p:cNvPr id="30" name="TextBox 29"/>
          <p:cNvSpPr txBox="1"/>
          <p:nvPr/>
        </p:nvSpPr>
        <p:spPr>
          <a:xfrm>
            <a:off x="1371600" y="6071616"/>
            <a:ext cx="9601200" cy="365760"/>
          </a:xfrm>
          <a:prstGeom prst="rect">
            <a:avLst/>
          </a:prstGeom>
          <a:noFill/>
        </p:spPr>
        <p:txBody>
          <a:bodyPr wrap="square">
            <a:spAutoFit/>
          </a:bodyPr>
          <a:lstStyle/>
          <a:p>
            <a:pPr algn="l">
              <a:defRPr sz="1400" b="0">
                <a:solidFill>
                  <a:srgbClr val="FFFFFF"/>
                </a:solidFill>
                <a:latin typeface="Segoe UI"/>
              </a:defRPr>
            </a:pPr>
            <a:r>
              <a:rPr sz="1400" b="1">
                <a:solidFill>
                  <a:srgbClr val="FFFFFF"/>
                </a:solidFill>
                <a:latin typeface="Segoe UI"/>
              </a:rPr>
              <a:t>Q&amp;A &amp; Next Steps</a:t>
            </a:r>
          </a:p>
        </p:txBody>
      </p:sp>
      <p:sp>
        <p:nvSpPr>
          <p:cNvPr id="31" name="TextBox 30"/>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Your Three Priorities</a:t>
            </a:r>
          </a:p>
        </p:txBody>
      </p:sp>
      <p:sp>
        <p:nvSpPr>
          <p:cNvPr id="3" name="TextBox 2"/>
          <p:cNvSpPr txBox="1"/>
          <p:nvPr/>
        </p:nvSpPr>
        <p:spPr>
          <a:xfrm>
            <a:off x="731520" y="914400"/>
            <a:ext cx="9144000" cy="365760"/>
          </a:xfrm>
          <a:prstGeom prst="rect">
            <a:avLst/>
          </a:prstGeom>
          <a:noFill/>
        </p:spPr>
        <p:txBody>
          <a:bodyPr wrap="square">
            <a:spAutoFit/>
          </a:bodyPr>
          <a:lstStyle/>
          <a:p>
            <a:pPr algn="l">
              <a:defRPr sz="1400" b="0">
                <a:solidFill>
                  <a:srgbClr val="8B949E"/>
                </a:solidFill>
                <a:latin typeface="Segoe UI"/>
              </a:defRPr>
            </a:pPr>
            <a:r>
              <a:t>Migrating to GHEC, building resilience, and protecting your data</a:t>
            </a:r>
          </a:p>
        </p:txBody>
      </p:sp>
      <p:sp>
        <p:nvSpPr>
          <p:cNvPr id="4" name="Rounded Rectangle 3"/>
          <p:cNvSpPr/>
          <p:nvPr/>
        </p:nvSpPr>
        <p:spPr>
          <a:xfrm>
            <a:off x="548640" y="1371600"/>
            <a:ext cx="3657600" cy="43891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63040"/>
            <a:ext cx="457200" cy="457200"/>
          </a:xfrm>
          <a:prstGeom prst="rect">
            <a:avLst/>
          </a:prstGeom>
          <a:noFill/>
        </p:spPr>
        <p:txBody>
          <a:bodyPr wrap="square">
            <a:spAutoFit/>
          </a:bodyPr>
          <a:lstStyle/>
          <a:p>
            <a:pPr algn="l">
              <a:defRPr sz="2400" b="0">
                <a:solidFill>
                  <a:srgbClr val="FFFFFF"/>
                </a:solidFill>
                <a:latin typeface="Segoe UI"/>
              </a:defRPr>
            </a:pPr>
            <a:r>
              <a:t>🚀</a:t>
            </a:r>
          </a:p>
        </p:txBody>
      </p:sp>
      <p:sp>
        <p:nvSpPr>
          <p:cNvPr id="6" name="TextBox 5"/>
          <p:cNvSpPr txBox="1"/>
          <p:nvPr/>
        </p:nvSpPr>
        <p:spPr>
          <a:xfrm>
            <a:off x="1143000" y="1508760"/>
            <a:ext cx="2743200" cy="365760"/>
          </a:xfrm>
          <a:prstGeom prst="rect">
            <a:avLst/>
          </a:prstGeom>
          <a:noFill/>
        </p:spPr>
        <p:txBody>
          <a:bodyPr wrap="square">
            <a:spAutoFit/>
          </a:bodyPr>
          <a:lstStyle/>
          <a:p>
            <a:pPr algn="l">
              <a:defRPr sz="2000" b="1">
                <a:solidFill>
                  <a:srgbClr val="238636"/>
                </a:solidFill>
                <a:latin typeface="Segoe UI"/>
              </a:defRPr>
            </a:pPr>
            <a:r>
              <a:t>Migration</a:t>
            </a:r>
          </a:p>
        </p:txBody>
      </p:sp>
      <p:sp>
        <p:nvSpPr>
          <p:cNvPr id="7" name="TextBox 6"/>
          <p:cNvSpPr txBox="1"/>
          <p:nvPr/>
        </p:nvSpPr>
        <p:spPr>
          <a:xfrm>
            <a:off x="1143000" y="1874519"/>
            <a:ext cx="2743200" cy="274320"/>
          </a:xfrm>
          <a:prstGeom prst="rect">
            <a:avLst/>
          </a:prstGeom>
          <a:noFill/>
        </p:spPr>
        <p:txBody>
          <a:bodyPr wrap="square">
            <a:spAutoFit/>
          </a:bodyPr>
          <a:lstStyle/>
          <a:p>
            <a:pPr algn="l">
              <a:defRPr sz="1300" b="0">
                <a:solidFill>
                  <a:srgbClr val="8B949E"/>
                </a:solidFill>
                <a:latin typeface="Segoe UI"/>
              </a:defRPr>
            </a:pPr>
            <a:r>
              <a:t>GHES → GHEC</a:t>
            </a:r>
          </a:p>
        </p:txBody>
      </p:sp>
      <p:sp>
        <p:nvSpPr>
          <p:cNvPr id="8" name="TextBox 7"/>
          <p:cNvSpPr txBox="1"/>
          <p:nvPr/>
        </p:nvSpPr>
        <p:spPr>
          <a:xfrm>
            <a:off x="777240" y="2331720"/>
            <a:ext cx="3200400" cy="548640"/>
          </a:xfrm>
          <a:prstGeom prst="rect">
            <a:avLst/>
          </a:prstGeom>
          <a:noFill/>
        </p:spPr>
        <p:txBody>
          <a:bodyPr wrap="square">
            <a:spAutoFit/>
          </a:bodyPr>
          <a:lstStyle/>
          <a:p>
            <a:pPr algn="l">
              <a:defRPr sz="1200" b="0">
                <a:solidFill>
                  <a:srgbClr val="C9D1D9"/>
                </a:solidFill>
                <a:latin typeface="Segoe UI"/>
              </a:defRPr>
            </a:pPr>
            <a:r>
              <a:t>• GitHub Enterprise Importer (GEI) — self-serve</a:t>
            </a:r>
          </a:p>
        </p:txBody>
      </p:sp>
      <p:sp>
        <p:nvSpPr>
          <p:cNvPr id="9" name="TextBox 8"/>
          <p:cNvSpPr txBox="1"/>
          <p:nvPr/>
        </p:nvSpPr>
        <p:spPr>
          <a:xfrm>
            <a:off x="777240" y="2926080"/>
            <a:ext cx="3200400" cy="548640"/>
          </a:xfrm>
          <a:prstGeom prst="rect">
            <a:avLst/>
          </a:prstGeom>
          <a:noFill/>
        </p:spPr>
        <p:txBody>
          <a:bodyPr wrap="square">
            <a:spAutoFit/>
          </a:bodyPr>
          <a:lstStyle/>
          <a:p>
            <a:pPr algn="l">
              <a:defRPr sz="1200" b="0">
                <a:solidFill>
                  <a:srgbClr val="C9D1D9"/>
                </a:solidFill>
                <a:latin typeface="Segoe UI"/>
              </a:defRPr>
            </a:pPr>
            <a:r>
              <a:t>• Repos, PRs, issues, teams migrate automatically</a:t>
            </a:r>
          </a:p>
        </p:txBody>
      </p:sp>
      <p:sp>
        <p:nvSpPr>
          <p:cNvPr id="10" name="TextBox 9"/>
          <p:cNvSpPr txBox="1"/>
          <p:nvPr/>
        </p:nvSpPr>
        <p:spPr>
          <a:xfrm>
            <a:off x="777240" y="3520440"/>
            <a:ext cx="3200400" cy="548640"/>
          </a:xfrm>
          <a:prstGeom prst="rect">
            <a:avLst/>
          </a:prstGeom>
          <a:noFill/>
        </p:spPr>
        <p:txBody>
          <a:bodyPr wrap="square">
            <a:spAutoFit/>
          </a:bodyPr>
          <a:lstStyle/>
          <a:p>
            <a:pPr algn="l">
              <a:defRPr sz="1200" b="0">
                <a:solidFill>
                  <a:srgbClr val="C9D1D9"/>
                </a:solidFill>
                <a:latin typeface="Segoe UI"/>
              </a:defRPr>
            </a:pPr>
            <a:r>
              <a:t>• Branch protection rules convert to Rulesets</a:t>
            </a:r>
          </a:p>
        </p:txBody>
      </p:sp>
      <p:sp>
        <p:nvSpPr>
          <p:cNvPr id="11" name="TextBox 10"/>
          <p:cNvSpPr txBox="1"/>
          <p:nvPr/>
        </p:nvSpPr>
        <p:spPr>
          <a:xfrm>
            <a:off x="777240" y="4114800"/>
            <a:ext cx="3200400" cy="548640"/>
          </a:xfrm>
          <a:prstGeom prst="rect">
            <a:avLst/>
          </a:prstGeom>
          <a:noFill/>
        </p:spPr>
        <p:txBody>
          <a:bodyPr wrap="square">
            <a:spAutoFit/>
          </a:bodyPr>
          <a:lstStyle/>
          <a:p>
            <a:pPr algn="l">
              <a:defRPr sz="1200" b="0">
                <a:solidFill>
                  <a:srgbClr val="C9D1D9"/>
                </a:solidFill>
                <a:latin typeface="Segoe UI"/>
              </a:defRPr>
            </a:pPr>
            <a:r>
              <a:t>• 5-phase: Plan → Trial → Migrate → Validate → Cutover</a:t>
            </a:r>
          </a:p>
        </p:txBody>
      </p:sp>
      <p:sp>
        <p:nvSpPr>
          <p:cNvPr id="12" name="TextBox 11"/>
          <p:cNvSpPr txBox="1"/>
          <p:nvPr/>
        </p:nvSpPr>
        <p:spPr>
          <a:xfrm>
            <a:off x="777240" y="4709160"/>
            <a:ext cx="3200400" cy="548640"/>
          </a:xfrm>
          <a:prstGeom prst="rect">
            <a:avLst/>
          </a:prstGeom>
          <a:noFill/>
        </p:spPr>
        <p:txBody>
          <a:bodyPr wrap="square">
            <a:spAutoFit/>
          </a:bodyPr>
          <a:lstStyle/>
          <a:p>
            <a:pPr algn="l">
              <a:defRPr sz="1200" b="0">
                <a:solidFill>
                  <a:srgbClr val="C9D1D9"/>
                </a:solidFill>
                <a:latin typeface="Segoe UI"/>
              </a:defRPr>
            </a:pPr>
            <a:r>
              <a:t>• Webhooks, secrets, deploy keys — planned manual work</a:t>
            </a:r>
          </a:p>
        </p:txBody>
      </p:sp>
      <p:sp>
        <p:nvSpPr>
          <p:cNvPr id="13" name="Rounded Rectangle 12"/>
          <p:cNvSpPr/>
          <p:nvPr/>
        </p:nvSpPr>
        <p:spPr>
          <a:xfrm>
            <a:off x="4343400" y="1371600"/>
            <a:ext cx="3657600" cy="43891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463040"/>
            <a:ext cx="457200" cy="457200"/>
          </a:xfrm>
          <a:prstGeom prst="rect">
            <a:avLst/>
          </a:prstGeom>
          <a:noFill/>
        </p:spPr>
        <p:txBody>
          <a:bodyPr wrap="square">
            <a:spAutoFit/>
          </a:bodyPr>
          <a:lstStyle/>
          <a:p>
            <a:pPr algn="l">
              <a:defRPr sz="2400" b="0">
                <a:solidFill>
                  <a:srgbClr val="FFFFFF"/>
                </a:solidFill>
                <a:latin typeface="Segoe UI"/>
              </a:defRPr>
            </a:pPr>
            <a:r>
              <a:t>🛡️</a:t>
            </a:r>
          </a:p>
        </p:txBody>
      </p:sp>
      <p:sp>
        <p:nvSpPr>
          <p:cNvPr id="15" name="TextBox 14"/>
          <p:cNvSpPr txBox="1"/>
          <p:nvPr/>
        </p:nvSpPr>
        <p:spPr>
          <a:xfrm>
            <a:off x="4937760" y="1508760"/>
            <a:ext cx="2743200" cy="365760"/>
          </a:xfrm>
          <a:prstGeom prst="rect">
            <a:avLst/>
          </a:prstGeom>
          <a:noFill/>
        </p:spPr>
        <p:txBody>
          <a:bodyPr wrap="square">
            <a:spAutoFit/>
          </a:bodyPr>
          <a:lstStyle/>
          <a:p>
            <a:pPr algn="l">
              <a:defRPr sz="2000" b="1">
                <a:solidFill>
                  <a:srgbClr val="58A6FF"/>
                </a:solidFill>
                <a:latin typeface="Segoe UI"/>
              </a:defRPr>
            </a:pPr>
            <a:r>
              <a:t>Resilience</a:t>
            </a:r>
          </a:p>
        </p:txBody>
      </p:sp>
      <p:sp>
        <p:nvSpPr>
          <p:cNvPr id="16" name="TextBox 15"/>
          <p:cNvSpPr txBox="1"/>
          <p:nvPr/>
        </p:nvSpPr>
        <p:spPr>
          <a:xfrm>
            <a:off x="4937760" y="1874519"/>
            <a:ext cx="2743200" cy="274320"/>
          </a:xfrm>
          <a:prstGeom prst="rect">
            <a:avLst/>
          </a:prstGeom>
          <a:noFill/>
        </p:spPr>
        <p:txBody>
          <a:bodyPr wrap="square">
            <a:spAutoFit/>
          </a:bodyPr>
          <a:lstStyle/>
          <a:p>
            <a:pPr algn="l">
              <a:defRPr sz="1300" b="0">
                <a:solidFill>
                  <a:srgbClr val="8B949E"/>
                </a:solidFill>
                <a:latin typeface="Segoe UI"/>
              </a:defRPr>
            </a:pPr>
            <a:r>
              <a:t>4-Layer Architecture</a:t>
            </a:r>
          </a:p>
        </p:txBody>
      </p:sp>
      <p:sp>
        <p:nvSpPr>
          <p:cNvPr id="17" name="TextBox 16"/>
          <p:cNvSpPr txBox="1"/>
          <p:nvPr/>
        </p:nvSpPr>
        <p:spPr>
          <a:xfrm>
            <a:off x="4572000" y="2331720"/>
            <a:ext cx="3200400" cy="548640"/>
          </a:xfrm>
          <a:prstGeom prst="rect">
            <a:avLst/>
          </a:prstGeom>
          <a:noFill/>
        </p:spPr>
        <p:txBody>
          <a:bodyPr wrap="square">
            <a:spAutoFit/>
          </a:bodyPr>
          <a:lstStyle/>
          <a:p>
            <a:pPr algn="l">
              <a:defRPr sz="1200" b="0">
                <a:solidFill>
                  <a:srgbClr val="C9D1D9"/>
                </a:solidFill>
                <a:latin typeface="Segoe UI"/>
              </a:defRPr>
            </a:pPr>
            <a:r>
              <a:t>• Layer A: GHEC — Multi-region SaaS, 99.9% SLA</a:t>
            </a:r>
          </a:p>
        </p:txBody>
      </p:sp>
      <p:sp>
        <p:nvSpPr>
          <p:cNvPr id="18" name="TextBox 17"/>
          <p:cNvSpPr txBox="1"/>
          <p:nvPr/>
        </p:nvSpPr>
        <p:spPr>
          <a:xfrm>
            <a:off x="4572000" y="2926080"/>
            <a:ext cx="3200400" cy="548640"/>
          </a:xfrm>
          <a:prstGeom prst="rect">
            <a:avLst/>
          </a:prstGeom>
          <a:noFill/>
        </p:spPr>
        <p:txBody>
          <a:bodyPr wrap="square">
            <a:spAutoFit/>
          </a:bodyPr>
          <a:lstStyle/>
          <a:p>
            <a:pPr algn="l">
              <a:defRPr sz="1200" b="0">
                <a:solidFill>
                  <a:srgbClr val="C9D1D9"/>
                </a:solidFill>
                <a:latin typeface="Segoe UI"/>
              </a:defRPr>
            </a:pPr>
            <a:r>
              <a:t>• Layer B: GHES + HA — Active/passive failover</a:t>
            </a:r>
          </a:p>
        </p:txBody>
      </p:sp>
      <p:sp>
        <p:nvSpPr>
          <p:cNvPr id="19" name="TextBox 18"/>
          <p:cNvSpPr txBox="1"/>
          <p:nvPr/>
        </p:nvSpPr>
        <p:spPr>
          <a:xfrm>
            <a:off x="4572000" y="3520440"/>
            <a:ext cx="3200400" cy="548640"/>
          </a:xfrm>
          <a:prstGeom prst="rect">
            <a:avLst/>
          </a:prstGeom>
          <a:noFill/>
        </p:spPr>
        <p:txBody>
          <a:bodyPr wrap="square">
            <a:spAutoFit/>
          </a:bodyPr>
          <a:lstStyle/>
          <a:p>
            <a:pPr algn="l">
              <a:defRPr sz="1200" b="0">
                <a:solidFill>
                  <a:srgbClr val="C9D1D9"/>
                </a:solidFill>
                <a:latin typeface="Segoe UI"/>
              </a:defRPr>
            </a:pPr>
            <a:r>
              <a:t>• Layer C: Azure GRS/GZRS — Geo-redundant storage</a:t>
            </a:r>
          </a:p>
        </p:txBody>
      </p:sp>
      <p:sp>
        <p:nvSpPr>
          <p:cNvPr id="20" name="TextBox 19"/>
          <p:cNvSpPr txBox="1"/>
          <p:nvPr/>
        </p:nvSpPr>
        <p:spPr>
          <a:xfrm>
            <a:off x="4572000" y="4114800"/>
            <a:ext cx="3200400" cy="548640"/>
          </a:xfrm>
          <a:prstGeom prst="rect">
            <a:avLst/>
          </a:prstGeom>
          <a:noFill/>
        </p:spPr>
        <p:txBody>
          <a:bodyPr wrap="square">
            <a:spAutoFit/>
          </a:bodyPr>
          <a:lstStyle/>
          <a:p>
            <a:pPr algn="l">
              <a:defRPr sz="1200" b="0">
                <a:solidFill>
                  <a:srgbClr val="C9D1D9"/>
                </a:solidFill>
                <a:latin typeface="Segoe UI"/>
              </a:defRPr>
            </a:pPr>
            <a:r>
              <a:t>• Layer D: Air-Gapped — Cloud-independent operations</a:t>
            </a:r>
          </a:p>
        </p:txBody>
      </p:sp>
      <p:sp>
        <p:nvSpPr>
          <p:cNvPr id="21" name="TextBox 20"/>
          <p:cNvSpPr txBox="1"/>
          <p:nvPr/>
        </p:nvSpPr>
        <p:spPr>
          <a:xfrm>
            <a:off x="4572000" y="4709160"/>
            <a:ext cx="3200400" cy="548640"/>
          </a:xfrm>
          <a:prstGeom prst="rect">
            <a:avLst/>
          </a:prstGeom>
          <a:noFill/>
        </p:spPr>
        <p:txBody>
          <a:bodyPr wrap="square">
            <a:spAutoFit/>
          </a:bodyPr>
          <a:lstStyle/>
          <a:p>
            <a:pPr algn="l">
              <a:defRPr sz="1200" b="0">
                <a:solidFill>
                  <a:srgbClr val="C9D1D9"/>
                </a:solidFill>
                <a:latin typeface="Segoe UI"/>
              </a:defRPr>
            </a:pPr>
            <a:r>
              <a:t>• Every failure scenario covered by at least one layer</a:t>
            </a:r>
          </a:p>
        </p:txBody>
      </p:sp>
      <p:sp>
        <p:nvSpPr>
          <p:cNvPr id="22" name="Rounded Rectangle 21"/>
          <p:cNvSpPr/>
          <p:nvPr/>
        </p:nvSpPr>
        <p:spPr>
          <a:xfrm>
            <a:off x="8138160" y="1371600"/>
            <a:ext cx="3657600" cy="43891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1463040"/>
            <a:ext cx="457200" cy="457200"/>
          </a:xfrm>
          <a:prstGeom prst="rect">
            <a:avLst/>
          </a:prstGeom>
          <a:noFill/>
        </p:spPr>
        <p:txBody>
          <a:bodyPr wrap="square">
            <a:spAutoFit/>
          </a:bodyPr>
          <a:lstStyle/>
          <a:p>
            <a:pPr algn="l">
              <a:defRPr sz="2400" b="0">
                <a:solidFill>
                  <a:srgbClr val="FFFFFF"/>
                </a:solidFill>
                <a:latin typeface="Segoe UI"/>
              </a:defRPr>
            </a:pPr>
            <a:r>
              <a:t>💾</a:t>
            </a:r>
          </a:p>
        </p:txBody>
      </p:sp>
      <p:sp>
        <p:nvSpPr>
          <p:cNvPr id="24" name="TextBox 23"/>
          <p:cNvSpPr txBox="1"/>
          <p:nvPr/>
        </p:nvSpPr>
        <p:spPr>
          <a:xfrm>
            <a:off x="8732520" y="1508760"/>
            <a:ext cx="2743200" cy="365760"/>
          </a:xfrm>
          <a:prstGeom prst="rect">
            <a:avLst/>
          </a:prstGeom>
          <a:noFill/>
        </p:spPr>
        <p:txBody>
          <a:bodyPr wrap="square">
            <a:spAutoFit/>
          </a:bodyPr>
          <a:lstStyle/>
          <a:p>
            <a:pPr algn="l">
              <a:defRPr sz="2000" b="1">
                <a:solidFill>
                  <a:srgbClr val="D29E22"/>
                </a:solidFill>
                <a:latin typeface="Segoe UI"/>
              </a:defRPr>
            </a:pPr>
            <a:r>
              <a:t>Backup &amp; DR</a:t>
            </a:r>
          </a:p>
        </p:txBody>
      </p:sp>
      <p:sp>
        <p:nvSpPr>
          <p:cNvPr id="25" name="TextBox 24"/>
          <p:cNvSpPr txBox="1"/>
          <p:nvPr/>
        </p:nvSpPr>
        <p:spPr>
          <a:xfrm>
            <a:off x="8732520" y="1874519"/>
            <a:ext cx="2743200" cy="274320"/>
          </a:xfrm>
          <a:prstGeom prst="rect">
            <a:avLst/>
          </a:prstGeom>
          <a:noFill/>
        </p:spPr>
        <p:txBody>
          <a:bodyPr wrap="square">
            <a:spAutoFit/>
          </a:bodyPr>
          <a:lstStyle/>
          <a:p>
            <a:pPr algn="l">
              <a:defRPr sz="1300" b="0">
                <a:solidFill>
                  <a:srgbClr val="8B949E"/>
                </a:solidFill>
                <a:latin typeface="Segoe UI"/>
              </a:defRPr>
            </a:pPr>
            <a:r>
              <a:t>Defense-in-Depth</a:t>
            </a:r>
          </a:p>
        </p:txBody>
      </p:sp>
      <p:sp>
        <p:nvSpPr>
          <p:cNvPr id="26" name="TextBox 25"/>
          <p:cNvSpPr txBox="1"/>
          <p:nvPr/>
        </p:nvSpPr>
        <p:spPr>
          <a:xfrm>
            <a:off x="8366760" y="2331720"/>
            <a:ext cx="3200400" cy="548640"/>
          </a:xfrm>
          <a:prstGeom prst="rect">
            <a:avLst/>
          </a:prstGeom>
          <a:noFill/>
        </p:spPr>
        <p:txBody>
          <a:bodyPr wrap="square">
            <a:spAutoFit/>
          </a:bodyPr>
          <a:lstStyle/>
          <a:p>
            <a:pPr algn="l">
              <a:defRPr sz="1200" b="0">
                <a:solidFill>
                  <a:srgbClr val="C9D1D9"/>
                </a:solidFill>
                <a:latin typeface="Segoe UI"/>
              </a:defRPr>
            </a:pPr>
            <a:r>
              <a:t>• Git mirror backups — daily/hourly full repo history</a:t>
            </a:r>
          </a:p>
        </p:txBody>
      </p:sp>
      <p:sp>
        <p:nvSpPr>
          <p:cNvPr id="27" name="TextBox 26"/>
          <p:cNvSpPr txBox="1"/>
          <p:nvPr/>
        </p:nvSpPr>
        <p:spPr>
          <a:xfrm>
            <a:off x="8366760" y="2926080"/>
            <a:ext cx="3200400" cy="548640"/>
          </a:xfrm>
          <a:prstGeom prst="rect">
            <a:avLst/>
          </a:prstGeom>
          <a:noFill/>
        </p:spPr>
        <p:txBody>
          <a:bodyPr wrap="square">
            <a:spAutoFit/>
          </a:bodyPr>
          <a:lstStyle/>
          <a:p>
            <a:pPr algn="l">
              <a:defRPr sz="1200" b="0">
                <a:solidFill>
                  <a:srgbClr val="C9D1D9"/>
                </a:solidFill>
                <a:latin typeface="Segoe UI"/>
              </a:defRPr>
            </a:pPr>
            <a:r>
              <a:t>• Metadata API exports — issues, PRs, releases</a:t>
            </a:r>
          </a:p>
        </p:txBody>
      </p:sp>
      <p:sp>
        <p:nvSpPr>
          <p:cNvPr id="28" name="TextBox 27"/>
          <p:cNvSpPr txBox="1"/>
          <p:nvPr/>
        </p:nvSpPr>
        <p:spPr>
          <a:xfrm>
            <a:off x="8366760" y="3520440"/>
            <a:ext cx="3200400" cy="548640"/>
          </a:xfrm>
          <a:prstGeom prst="rect">
            <a:avLst/>
          </a:prstGeom>
          <a:noFill/>
        </p:spPr>
        <p:txBody>
          <a:bodyPr wrap="square">
            <a:spAutoFit/>
          </a:bodyPr>
          <a:lstStyle/>
          <a:p>
            <a:pPr algn="l">
              <a:defRPr sz="1200" b="0">
                <a:solidFill>
                  <a:srgbClr val="C9D1D9"/>
                </a:solidFill>
                <a:latin typeface="Segoe UI"/>
              </a:defRPr>
            </a:pPr>
            <a:r>
              <a:t>• GHES snapshots — incremental, zero-downtime</a:t>
            </a:r>
          </a:p>
        </p:txBody>
      </p:sp>
      <p:sp>
        <p:nvSpPr>
          <p:cNvPr id="29" name="TextBox 28"/>
          <p:cNvSpPr txBox="1"/>
          <p:nvPr/>
        </p:nvSpPr>
        <p:spPr>
          <a:xfrm>
            <a:off x="8366760" y="4114800"/>
            <a:ext cx="3200400" cy="548640"/>
          </a:xfrm>
          <a:prstGeom prst="rect">
            <a:avLst/>
          </a:prstGeom>
          <a:noFill/>
        </p:spPr>
        <p:txBody>
          <a:bodyPr wrap="square">
            <a:spAutoFit/>
          </a:bodyPr>
          <a:lstStyle/>
          <a:p>
            <a:pPr algn="l">
              <a:defRPr sz="1200" b="0">
                <a:solidFill>
                  <a:srgbClr val="C9D1D9"/>
                </a:solidFill>
                <a:latin typeface="Segoe UI"/>
              </a:defRPr>
            </a:pPr>
            <a:r>
              <a:t>• Azure geo-redundant storage — 16 nines durability</a:t>
            </a:r>
          </a:p>
        </p:txBody>
      </p:sp>
      <p:sp>
        <p:nvSpPr>
          <p:cNvPr id="30" name="TextBox 29"/>
          <p:cNvSpPr txBox="1"/>
          <p:nvPr/>
        </p:nvSpPr>
        <p:spPr>
          <a:xfrm>
            <a:off x="8366760" y="4709160"/>
            <a:ext cx="3200400" cy="548640"/>
          </a:xfrm>
          <a:prstGeom prst="rect">
            <a:avLst/>
          </a:prstGeom>
          <a:noFill/>
        </p:spPr>
        <p:txBody>
          <a:bodyPr wrap="square">
            <a:spAutoFit/>
          </a:bodyPr>
          <a:lstStyle/>
          <a:p>
            <a:pPr algn="l">
              <a:defRPr sz="1200" b="0">
                <a:solidFill>
                  <a:srgbClr val="C9D1D9"/>
                </a:solidFill>
                <a:latin typeface="Segoe UI"/>
              </a:defRPr>
            </a:pPr>
            <a:r>
              <a:t>• Outage playbooks for 3 failure scenarios</a:t>
            </a:r>
          </a:p>
        </p:txBody>
      </p:sp>
      <p:sp>
        <p:nvSpPr>
          <p:cNvPr id="31" name="Rounded Rectangle 30"/>
          <p:cNvSpPr/>
          <p:nvPr/>
        </p:nvSpPr>
        <p:spPr>
          <a:xfrm>
            <a:off x="548640" y="5943600"/>
            <a:ext cx="11064240" cy="502920"/>
          </a:xfrm>
          <a:prstGeom prst="roundRect">
            <a:avLst/>
          </a:prstGeom>
          <a:solidFill>
            <a:srgbClr val="1A2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8636"/>
                </a:solidFill>
                <a:latin typeface="Segoe UI"/>
              </a:defRPr>
            </a:pPr>
            <a:r>
              <a:t>✅  Migration is the beginning — Resilience &amp; Backup ensure your investment is protected</a:t>
            </a:r>
          </a:p>
        </p:txBody>
      </p:sp>
      <p:sp>
        <p:nvSpPr>
          <p:cNvPr id="32" name="TextBox 31"/>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Resilience Architecture — 4-Layer Overview</a:t>
            </a:r>
          </a:p>
        </p:txBody>
      </p:sp>
      <p:sp>
        <p:nvSpPr>
          <p:cNvPr id="3" name="TextBox 2"/>
          <p:cNvSpPr txBox="1"/>
          <p:nvPr/>
        </p:nvSpPr>
        <p:spPr>
          <a:xfrm>
            <a:off x="731520" y="914400"/>
            <a:ext cx="9144000" cy="365760"/>
          </a:xfrm>
          <a:prstGeom prst="rect">
            <a:avLst/>
          </a:prstGeom>
          <a:noFill/>
        </p:spPr>
        <p:txBody>
          <a:bodyPr wrap="square">
            <a:spAutoFit/>
          </a:bodyPr>
          <a:lstStyle/>
          <a:p>
            <a:pPr algn="l">
              <a:defRPr sz="1400" b="0">
                <a:solidFill>
                  <a:srgbClr val="8B949E"/>
                </a:solidFill>
                <a:latin typeface="Segoe UI"/>
              </a:defRPr>
            </a:pPr>
            <a:r>
              <a:t>Business continuity through defense-in-depth</a:t>
            </a:r>
          </a:p>
        </p:txBody>
      </p:sp>
      <p:sp>
        <p:nvSpPr>
          <p:cNvPr id="4" name="Rounded Rectangle 3"/>
          <p:cNvSpPr/>
          <p:nvPr/>
        </p:nvSpPr>
        <p:spPr>
          <a:xfrm>
            <a:off x="73152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737360" y="1645920"/>
            <a:ext cx="548640" cy="548640"/>
          </a:xfrm>
          <a:prstGeom prst="ellipse">
            <a:avLst/>
          </a:prstGeom>
          <a:solidFill>
            <a:srgbClr val="23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A</a:t>
            </a:r>
          </a:p>
        </p:txBody>
      </p:sp>
      <p:sp>
        <p:nvSpPr>
          <p:cNvPr id="6" name="TextBox 5"/>
          <p:cNvSpPr txBox="1"/>
          <p:nvPr/>
        </p:nvSpPr>
        <p:spPr>
          <a:xfrm>
            <a:off x="868680" y="2331720"/>
            <a:ext cx="2331720" cy="365760"/>
          </a:xfrm>
          <a:prstGeom prst="rect">
            <a:avLst/>
          </a:prstGeom>
          <a:noFill/>
        </p:spPr>
        <p:txBody>
          <a:bodyPr wrap="square">
            <a:spAutoFit/>
          </a:bodyPr>
          <a:lstStyle/>
          <a:p>
            <a:pPr algn="ctr">
              <a:defRPr sz="1500" b="1">
                <a:solidFill>
                  <a:srgbClr val="238636"/>
                </a:solidFill>
                <a:latin typeface="Segoe UI"/>
              </a:defRPr>
            </a:pPr>
            <a:r>
              <a:t>GHEC (SaaS)</a:t>
            </a:r>
          </a:p>
        </p:txBody>
      </p:sp>
      <p:sp>
        <p:nvSpPr>
          <p:cNvPr id="7" name="TextBox 6"/>
          <p:cNvSpPr txBox="1"/>
          <p:nvPr/>
        </p:nvSpPr>
        <p:spPr>
          <a:xfrm>
            <a:off x="914400" y="2834640"/>
            <a:ext cx="2240280" cy="2011680"/>
          </a:xfrm>
          <a:prstGeom prst="rect">
            <a:avLst/>
          </a:prstGeom>
          <a:noFill/>
        </p:spPr>
        <p:txBody>
          <a:bodyPr wrap="square">
            <a:spAutoFit/>
          </a:bodyPr>
          <a:lstStyle/>
          <a:p>
            <a:pPr algn="l">
              <a:defRPr sz="1200" b="0">
                <a:solidFill>
                  <a:srgbClr val="C9D1D9"/>
                </a:solidFill>
                <a:latin typeface="Segoe UI"/>
              </a:defRPr>
            </a:pPr>
            <a:r>
              <a:t>Primary collaboration platform</a:t>
            </a:r>
            <a:br/>
            <a:r>
              <a:t>Multi-region redundancy</a:t>
            </a:r>
            <a:br/>
            <a:r>
              <a:t>99.9% uptime SLA</a:t>
            </a:r>
            <a:br/>
            <a:r>
              <a:t>Git mirror support</a:t>
            </a:r>
          </a:p>
        </p:txBody>
      </p:sp>
      <p:sp>
        <p:nvSpPr>
          <p:cNvPr id="8" name="Rounded Rectangle 7"/>
          <p:cNvSpPr/>
          <p:nvPr/>
        </p:nvSpPr>
        <p:spPr>
          <a:xfrm>
            <a:off x="352044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80" y="1645920"/>
            <a:ext cx="548640" cy="548640"/>
          </a:xfrm>
          <a:prstGeom prst="ellipse">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B</a:t>
            </a:r>
          </a:p>
        </p:txBody>
      </p:sp>
      <p:sp>
        <p:nvSpPr>
          <p:cNvPr id="10" name="TextBox 9"/>
          <p:cNvSpPr txBox="1"/>
          <p:nvPr/>
        </p:nvSpPr>
        <p:spPr>
          <a:xfrm>
            <a:off x="3657600" y="2331720"/>
            <a:ext cx="2331720" cy="365760"/>
          </a:xfrm>
          <a:prstGeom prst="rect">
            <a:avLst/>
          </a:prstGeom>
          <a:noFill/>
        </p:spPr>
        <p:txBody>
          <a:bodyPr wrap="square">
            <a:spAutoFit/>
          </a:bodyPr>
          <a:lstStyle/>
          <a:p>
            <a:pPr algn="ctr">
              <a:defRPr sz="1500" b="1">
                <a:solidFill>
                  <a:srgbClr val="58A6FF"/>
                </a:solidFill>
                <a:latin typeface="Segoe UI"/>
              </a:defRPr>
            </a:pPr>
            <a:r>
              <a:t>GHES + HA Replica</a:t>
            </a:r>
          </a:p>
        </p:txBody>
      </p:sp>
      <p:sp>
        <p:nvSpPr>
          <p:cNvPr id="11" name="TextBox 10"/>
          <p:cNvSpPr txBox="1"/>
          <p:nvPr/>
        </p:nvSpPr>
        <p:spPr>
          <a:xfrm>
            <a:off x="3703320" y="2834640"/>
            <a:ext cx="2240280" cy="2011680"/>
          </a:xfrm>
          <a:prstGeom prst="rect">
            <a:avLst/>
          </a:prstGeom>
          <a:noFill/>
        </p:spPr>
        <p:txBody>
          <a:bodyPr wrap="square">
            <a:spAutoFit/>
          </a:bodyPr>
          <a:lstStyle/>
          <a:p>
            <a:pPr algn="l">
              <a:defRPr sz="1200" b="0">
                <a:solidFill>
                  <a:srgbClr val="C9D1D9"/>
                </a:solidFill>
                <a:latin typeface="Segoe UI"/>
              </a:defRPr>
            </a:pPr>
            <a:r>
              <a:t>Active/passive failover</a:t>
            </a:r>
            <a:br/>
            <a:r>
              <a:t>Geo-replication (up to 8 replicas)</a:t>
            </a:r>
            <a:br/>
            <a:r>
              <a:t>Full backup snapshots</a:t>
            </a:r>
            <a:br/>
            <a:r>
              <a:t>Air-gapped support</a:t>
            </a:r>
          </a:p>
        </p:txBody>
      </p:sp>
      <p:sp>
        <p:nvSpPr>
          <p:cNvPr id="12" name="Rounded Rectangle 11"/>
          <p:cNvSpPr/>
          <p:nvPr/>
        </p:nvSpPr>
        <p:spPr>
          <a:xfrm>
            <a:off x="630936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0" y="1645920"/>
            <a:ext cx="548640" cy="548640"/>
          </a:xfrm>
          <a:prstGeom prst="ellipse">
            <a:avLst/>
          </a:prstGeom>
          <a:solidFill>
            <a:srgbClr val="D29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C</a:t>
            </a:r>
          </a:p>
        </p:txBody>
      </p:sp>
      <p:sp>
        <p:nvSpPr>
          <p:cNvPr id="14" name="TextBox 13"/>
          <p:cNvSpPr txBox="1"/>
          <p:nvPr/>
        </p:nvSpPr>
        <p:spPr>
          <a:xfrm>
            <a:off x="6446520" y="2331720"/>
            <a:ext cx="2331720" cy="365760"/>
          </a:xfrm>
          <a:prstGeom prst="rect">
            <a:avLst/>
          </a:prstGeom>
          <a:noFill/>
        </p:spPr>
        <p:txBody>
          <a:bodyPr wrap="square">
            <a:spAutoFit/>
          </a:bodyPr>
          <a:lstStyle/>
          <a:p>
            <a:pPr algn="ctr">
              <a:defRPr sz="1500" b="1">
                <a:solidFill>
                  <a:srgbClr val="D29E22"/>
                </a:solidFill>
                <a:latin typeface="Segoe UI"/>
              </a:defRPr>
            </a:pPr>
            <a:r>
              <a:t>Azure GRS/GZRS</a:t>
            </a:r>
          </a:p>
        </p:txBody>
      </p:sp>
      <p:sp>
        <p:nvSpPr>
          <p:cNvPr id="15" name="TextBox 14"/>
          <p:cNvSpPr txBox="1"/>
          <p:nvPr/>
        </p:nvSpPr>
        <p:spPr>
          <a:xfrm>
            <a:off x="6492240" y="2834640"/>
            <a:ext cx="2240280" cy="2011680"/>
          </a:xfrm>
          <a:prstGeom prst="rect">
            <a:avLst/>
          </a:prstGeom>
          <a:noFill/>
        </p:spPr>
        <p:txBody>
          <a:bodyPr wrap="square">
            <a:spAutoFit/>
          </a:bodyPr>
          <a:lstStyle/>
          <a:p>
            <a:pPr algn="l">
              <a:defRPr sz="1200" b="0">
                <a:solidFill>
                  <a:srgbClr val="C9D1D9"/>
                </a:solidFill>
                <a:latin typeface="Segoe UI"/>
              </a:defRPr>
            </a:pPr>
            <a:r>
              <a:t>Geo-redundant storage (16 nines)</a:t>
            </a:r>
            <a:br/>
            <a:r>
              <a:t>Cross-region DR</a:t>
            </a:r>
            <a:br/>
            <a:r>
              <a:t>Lifecycle auto-tiering</a:t>
            </a:r>
            <a:br/>
            <a:r>
              <a:t>Hot → Cool → Archive</a:t>
            </a:r>
          </a:p>
        </p:txBody>
      </p:sp>
      <p:sp>
        <p:nvSpPr>
          <p:cNvPr id="16" name="Rounded Rectangle 15"/>
          <p:cNvSpPr/>
          <p:nvPr/>
        </p:nvSpPr>
        <p:spPr>
          <a:xfrm>
            <a:off x="909828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04120" y="1645920"/>
            <a:ext cx="548640" cy="548640"/>
          </a:xfrm>
          <a:prstGeom prst="ellipse">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D</a:t>
            </a:r>
          </a:p>
        </p:txBody>
      </p:sp>
      <p:sp>
        <p:nvSpPr>
          <p:cNvPr id="18" name="TextBox 17"/>
          <p:cNvSpPr txBox="1"/>
          <p:nvPr/>
        </p:nvSpPr>
        <p:spPr>
          <a:xfrm>
            <a:off x="9235440" y="2331720"/>
            <a:ext cx="2331720" cy="365760"/>
          </a:xfrm>
          <a:prstGeom prst="rect">
            <a:avLst/>
          </a:prstGeom>
          <a:noFill/>
        </p:spPr>
        <p:txBody>
          <a:bodyPr wrap="square">
            <a:spAutoFit/>
          </a:bodyPr>
          <a:lstStyle/>
          <a:p>
            <a:pPr algn="ctr">
              <a:defRPr sz="1500" b="1">
                <a:solidFill>
                  <a:srgbClr val="BC8CFF"/>
                </a:solidFill>
                <a:latin typeface="Segoe UI"/>
              </a:defRPr>
            </a:pPr>
            <a:r>
              <a:t>Local Infrastructure</a:t>
            </a:r>
          </a:p>
        </p:txBody>
      </p:sp>
      <p:sp>
        <p:nvSpPr>
          <p:cNvPr id="19" name="TextBox 18"/>
          <p:cNvSpPr txBox="1"/>
          <p:nvPr/>
        </p:nvSpPr>
        <p:spPr>
          <a:xfrm>
            <a:off x="9281160" y="2834640"/>
            <a:ext cx="2240280" cy="2011680"/>
          </a:xfrm>
          <a:prstGeom prst="rect">
            <a:avLst/>
          </a:prstGeom>
          <a:noFill/>
        </p:spPr>
        <p:txBody>
          <a:bodyPr wrap="square">
            <a:spAutoFit/>
          </a:bodyPr>
          <a:lstStyle/>
          <a:p>
            <a:pPr algn="l">
              <a:defRPr sz="1200" b="0">
                <a:solidFill>
                  <a:srgbClr val="C9D1D9"/>
                </a:solidFill>
                <a:latin typeface="Segoe UI"/>
              </a:defRPr>
            </a:pPr>
            <a:r>
              <a:t>Air-gapped GHES instance</a:t>
            </a:r>
            <a:br/>
            <a:r>
              <a:t>Encrypted offline storage</a:t>
            </a:r>
            <a:br/>
            <a:r>
              <a:t>Cloud-independent ops</a:t>
            </a:r>
            <a:br/>
            <a:r>
              <a:t>Full chain of custody</a:t>
            </a:r>
          </a:p>
        </p:txBody>
      </p:sp>
      <p:sp>
        <p:nvSpPr>
          <p:cNvPr id="20" name="Rounded Rectangle 19"/>
          <p:cNvSpPr/>
          <p:nvPr/>
        </p:nvSpPr>
        <p:spPr>
          <a:xfrm>
            <a:off x="731520" y="5212080"/>
            <a:ext cx="10698480" cy="640080"/>
          </a:xfrm>
          <a:prstGeom prst="roundRect">
            <a:avLst/>
          </a:prstGeom>
          <a:solidFill>
            <a:srgbClr val="1A2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8636"/>
                </a:solidFill>
                <a:latin typeface="Segoe UI"/>
              </a:defRPr>
            </a:pPr>
            <a:r>
              <a:t>✅  Near-zero RPO  •  Sub-30-minute RTO  •  Every failure scenario covered</a:t>
            </a:r>
          </a:p>
        </p:txBody>
      </p:sp>
      <p:sp>
        <p:nvSpPr>
          <p:cNvPr id="21" name="TextBox 20"/>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GHES → GHEC Migration &amp; Backup Strategy</a:t>
            </a:r>
          </a:p>
        </p:txBody>
      </p:sp>
      <p:sp>
        <p:nvSpPr>
          <p:cNvPr id="3" name="TextBox 2"/>
          <p:cNvSpPr txBox="1"/>
          <p:nvPr/>
        </p:nvSpPr>
        <p:spPr>
          <a:xfrm>
            <a:off x="731520" y="1005840"/>
            <a:ext cx="5029200" cy="365760"/>
          </a:xfrm>
          <a:prstGeom prst="rect">
            <a:avLst/>
          </a:prstGeom>
          <a:noFill/>
        </p:spPr>
        <p:txBody>
          <a:bodyPr wrap="square">
            <a:spAutoFit/>
          </a:bodyPr>
          <a:lstStyle/>
          <a:p>
            <a:pPr algn="l">
              <a:defRPr sz="1600" b="1">
                <a:solidFill>
                  <a:srgbClr val="58A6FF"/>
                </a:solidFill>
                <a:latin typeface="Segoe UI"/>
              </a:defRPr>
            </a:pPr>
            <a:r>
              <a:t>Migration via GitHub Enterprise Importer (GEI)</a:t>
            </a:r>
          </a:p>
        </p:txBody>
      </p:sp>
      <p:sp>
        <p:nvSpPr>
          <p:cNvPr id="4" name="TextBox 3"/>
          <p:cNvSpPr txBox="1"/>
          <p:nvPr/>
        </p:nvSpPr>
        <p:spPr>
          <a:xfrm>
            <a:off x="914400" y="1463040"/>
            <a:ext cx="5029200" cy="320040"/>
          </a:xfrm>
          <a:prstGeom prst="rect">
            <a:avLst/>
          </a:prstGeom>
          <a:noFill/>
        </p:spPr>
        <p:txBody>
          <a:bodyPr wrap="square">
            <a:spAutoFit/>
          </a:bodyPr>
          <a:lstStyle/>
          <a:p>
            <a:pPr algn="l">
              <a:defRPr sz="1200" b="0">
                <a:solidFill>
                  <a:srgbClr val="C9D1D9"/>
                </a:solidFill>
                <a:latin typeface="Segoe UI"/>
              </a:defRPr>
            </a:pPr>
            <a:r>
              <a:t>1. Plan — Inventory repos, teams, dependencies</a:t>
            </a:r>
          </a:p>
        </p:txBody>
      </p:sp>
      <p:sp>
        <p:nvSpPr>
          <p:cNvPr id="5" name="TextBox 4"/>
          <p:cNvSpPr txBox="1"/>
          <p:nvPr/>
        </p:nvSpPr>
        <p:spPr>
          <a:xfrm>
            <a:off x="914400" y="1783080"/>
            <a:ext cx="5029200" cy="320040"/>
          </a:xfrm>
          <a:prstGeom prst="rect">
            <a:avLst/>
          </a:prstGeom>
          <a:noFill/>
        </p:spPr>
        <p:txBody>
          <a:bodyPr wrap="square">
            <a:spAutoFit/>
          </a:bodyPr>
          <a:lstStyle/>
          <a:p>
            <a:pPr algn="l">
              <a:defRPr sz="1200" b="0">
                <a:solidFill>
                  <a:srgbClr val="C9D1D9"/>
                </a:solidFill>
                <a:latin typeface="Segoe UI"/>
              </a:defRPr>
            </a:pPr>
            <a:r>
              <a:t>2. Trial — Run trial migrations to validate</a:t>
            </a:r>
          </a:p>
        </p:txBody>
      </p:sp>
      <p:sp>
        <p:nvSpPr>
          <p:cNvPr id="6" name="TextBox 5"/>
          <p:cNvSpPr txBox="1"/>
          <p:nvPr/>
        </p:nvSpPr>
        <p:spPr>
          <a:xfrm>
            <a:off x="914400" y="2103120"/>
            <a:ext cx="5029200" cy="320040"/>
          </a:xfrm>
          <a:prstGeom prst="rect">
            <a:avLst/>
          </a:prstGeom>
          <a:noFill/>
        </p:spPr>
        <p:txBody>
          <a:bodyPr wrap="square">
            <a:spAutoFit/>
          </a:bodyPr>
          <a:lstStyle/>
          <a:p>
            <a:pPr algn="l">
              <a:defRPr sz="1200" b="0">
                <a:solidFill>
                  <a:srgbClr val="C9D1D9"/>
                </a:solidFill>
                <a:latin typeface="Segoe UI"/>
              </a:defRPr>
            </a:pPr>
            <a:r>
              <a:t>3. Migrate — Execute production migration (pause work!)</a:t>
            </a:r>
          </a:p>
        </p:txBody>
      </p:sp>
      <p:sp>
        <p:nvSpPr>
          <p:cNvPr id="7" name="TextBox 6"/>
          <p:cNvSpPr txBox="1"/>
          <p:nvPr/>
        </p:nvSpPr>
        <p:spPr>
          <a:xfrm>
            <a:off x="914400" y="2423160"/>
            <a:ext cx="5029200" cy="320040"/>
          </a:xfrm>
          <a:prstGeom prst="rect">
            <a:avLst/>
          </a:prstGeom>
          <a:noFill/>
        </p:spPr>
        <p:txBody>
          <a:bodyPr wrap="square">
            <a:spAutoFit/>
          </a:bodyPr>
          <a:lstStyle/>
          <a:p>
            <a:pPr algn="l">
              <a:defRPr sz="1200" b="0">
                <a:solidFill>
                  <a:srgbClr val="C9D1D9"/>
                </a:solidFill>
                <a:latin typeface="Segoe UI"/>
              </a:defRPr>
            </a:pPr>
            <a:r>
              <a:t>4. Validate — Verify data fidelity, review logs</a:t>
            </a:r>
          </a:p>
        </p:txBody>
      </p:sp>
      <p:sp>
        <p:nvSpPr>
          <p:cNvPr id="8" name="TextBox 7"/>
          <p:cNvSpPr txBox="1"/>
          <p:nvPr/>
        </p:nvSpPr>
        <p:spPr>
          <a:xfrm>
            <a:off x="914400" y="2743200"/>
            <a:ext cx="5029200" cy="320040"/>
          </a:xfrm>
          <a:prstGeom prst="rect">
            <a:avLst/>
          </a:prstGeom>
          <a:noFill/>
        </p:spPr>
        <p:txBody>
          <a:bodyPr wrap="square">
            <a:spAutoFit/>
          </a:bodyPr>
          <a:lstStyle/>
          <a:p>
            <a:pPr algn="l">
              <a:defRPr sz="1200" b="0">
                <a:solidFill>
                  <a:srgbClr val="C9D1D9"/>
                </a:solidFill>
                <a:latin typeface="Segoe UI"/>
              </a:defRPr>
            </a:pPr>
            <a:r>
              <a:t>5. Cutover — Redirect users, re-enable integrations</a:t>
            </a:r>
          </a:p>
        </p:txBody>
      </p:sp>
      <p:sp>
        <p:nvSpPr>
          <p:cNvPr id="9" name="Rounded Rectangle 8"/>
          <p:cNvSpPr/>
          <p:nvPr/>
        </p:nvSpPr>
        <p:spPr>
          <a:xfrm>
            <a:off x="731520" y="3200400"/>
            <a:ext cx="5303520" cy="457200"/>
          </a:xfrm>
          <a:prstGeom prst="roundRect">
            <a:avLst/>
          </a:prstGeom>
          <a:solidFill>
            <a:srgbClr val="2A1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29E22"/>
                </a:solidFill>
                <a:latin typeface="Segoe UI"/>
              </a:defRPr>
            </a:pPr>
            <a:r>
              <a:t>⚠️  GEI does NOT support incremental migration</a:t>
            </a:r>
          </a:p>
        </p:txBody>
      </p:sp>
      <p:sp>
        <p:nvSpPr>
          <p:cNvPr id="10" name="TextBox 9"/>
          <p:cNvSpPr txBox="1"/>
          <p:nvPr/>
        </p:nvSpPr>
        <p:spPr>
          <a:xfrm>
            <a:off x="731520" y="3840480"/>
            <a:ext cx="2743200" cy="274320"/>
          </a:xfrm>
          <a:prstGeom prst="rect">
            <a:avLst/>
          </a:prstGeom>
          <a:noFill/>
        </p:spPr>
        <p:txBody>
          <a:bodyPr wrap="square">
            <a:spAutoFit/>
          </a:bodyPr>
          <a:lstStyle/>
          <a:p>
            <a:pPr algn="l">
              <a:defRPr sz="1200" b="1">
                <a:solidFill>
                  <a:srgbClr val="238636"/>
                </a:solidFill>
                <a:latin typeface="Segoe UI"/>
              </a:defRPr>
            </a:pPr>
            <a:r>
              <a:t>✅ Auto-migrates:</a:t>
            </a:r>
          </a:p>
        </p:txBody>
      </p:sp>
      <p:sp>
        <p:nvSpPr>
          <p:cNvPr id="11" name="TextBox 10"/>
          <p:cNvSpPr txBox="1"/>
          <p:nvPr/>
        </p:nvSpPr>
        <p:spPr>
          <a:xfrm>
            <a:off x="731520" y="4114800"/>
            <a:ext cx="5029200" cy="914400"/>
          </a:xfrm>
          <a:prstGeom prst="rect">
            <a:avLst/>
          </a:prstGeom>
          <a:noFill/>
        </p:spPr>
        <p:txBody>
          <a:bodyPr wrap="square">
            <a:spAutoFit/>
          </a:bodyPr>
          <a:lstStyle/>
          <a:p>
            <a:pPr algn="l">
              <a:defRPr sz="1100" b="0">
                <a:solidFill>
                  <a:srgbClr val="C9D1D9"/>
                </a:solidFill>
                <a:latin typeface="Segoe UI"/>
              </a:defRPr>
            </a:pPr>
            <a:r>
              <a:t>Git source  •  PRs with reviews  •  Issues  •  Wikis  •  Releases  •  Teams &amp; permissions  •  Branch protection → Rulesets</a:t>
            </a:r>
          </a:p>
        </p:txBody>
      </p:sp>
      <p:sp>
        <p:nvSpPr>
          <p:cNvPr id="12" name="TextBox 11"/>
          <p:cNvSpPr txBox="1"/>
          <p:nvPr/>
        </p:nvSpPr>
        <p:spPr>
          <a:xfrm>
            <a:off x="731520" y="4846320"/>
            <a:ext cx="2743200" cy="274320"/>
          </a:xfrm>
          <a:prstGeom prst="rect">
            <a:avLst/>
          </a:prstGeom>
          <a:noFill/>
        </p:spPr>
        <p:txBody>
          <a:bodyPr wrap="square">
            <a:spAutoFit/>
          </a:bodyPr>
          <a:lstStyle/>
          <a:p>
            <a:pPr algn="l">
              <a:defRPr sz="1200" b="1">
                <a:solidFill>
                  <a:srgbClr val="D29E22"/>
                </a:solidFill>
                <a:latin typeface="Segoe UI"/>
              </a:defRPr>
            </a:pPr>
            <a:r>
              <a:t>🔧 Manual work needed:</a:t>
            </a:r>
          </a:p>
        </p:txBody>
      </p:sp>
      <p:sp>
        <p:nvSpPr>
          <p:cNvPr id="13" name="TextBox 12"/>
          <p:cNvSpPr txBox="1"/>
          <p:nvPr/>
        </p:nvSpPr>
        <p:spPr>
          <a:xfrm>
            <a:off x="731520" y="5120640"/>
            <a:ext cx="5029200" cy="731520"/>
          </a:xfrm>
          <a:prstGeom prst="rect">
            <a:avLst/>
          </a:prstGeom>
          <a:noFill/>
        </p:spPr>
        <p:txBody>
          <a:bodyPr wrap="square">
            <a:spAutoFit/>
          </a:bodyPr>
          <a:lstStyle/>
          <a:p>
            <a:pPr algn="l">
              <a:defRPr sz="1100" b="0">
                <a:solidFill>
                  <a:srgbClr val="C9D1D9"/>
                </a:solidFill>
                <a:latin typeface="Segoe UI"/>
              </a:defRPr>
            </a:pPr>
            <a:r>
              <a:t>Webhooks  •  Actions secrets  •  Deploy keys  •  GitHub Apps  •  Packages  •  Repos &gt; 40 GB</a:t>
            </a:r>
          </a:p>
        </p:txBody>
      </p:sp>
      <p:sp>
        <p:nvSpPr>
          <p:cNvPr id="14" name="Rounded Rectangle 13"/>
          <p:cNvSpPr/>
          <p:nvPr/>
        </p:nvSpPr>
        <p:spPr>
          <a:xfrm>
            <a:off x="6172200" y="1005840"/>
            <a:ext cx="27432" cy="5029200"/>
          </a:xfrm>
          <a:prstGeom prst="roundRect">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005840"/>
            <a:ext cx="5486400" cy="365760"/>
          </a:xfrm>
          <a:prstGeom prst="rect">
            <a:avLst/>
          </a:prstGeom>
          <a:noFill/>
        </p:spPr>
        <p:txBody>
          <a:bodyPr wrap="square">
            <a:spAutoFit/>
          </a:bodyPr>
          <a:lstStyle/>
          <a:p>
            <a:pPr algn="l">
              <a:defRPr sz="1600" b="1">
                <a:solidFill>
                  <a:srgbClr val="D29E22"/>
                </a:solidFill>
                <a:latin typeface="Segoe UI"/>
              </a:defRPr>
            </a:pPr>
            <a:r>
              <a:t>4-Layer Backup &amp; DR Strategy</a:t>
            </a:r>
          </a:p>
        </p:txBody>
      </p:sp>
      <p:sp>
        <p:nvSpPr>
          <p:cNvPr id="16" name="Rounded Rectangle 15"/>
          <p:cNvSpPr/>
          <p:nvPr/>
        </p:nvSpPr>
        <p:spPr>
          <a:xfrm>
            <a:off x="6400800" y="150876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1554480"/>
            <a:ext cx="5029200" cy="274320"/>
          </a:xfrm>
          <a:prstGeom prst="rect">
            <a:avLst/>
          </a:prstGeom>
          <a:noFill/>
        </p:spPr>
        <p:txBody>
          <a:bodyPr wrap="square">
            <a:spAutoFit/>
          </a:bodyPr>
          <a:lstStyle/>
          <a:p>
            <a:pPr algn="l">
              <a:defRPr sz="1300" b="1">
                <a:solidFill>
                  <a:srgbClr val="238636"/>
                </a:solidFill>
                <a:latin typeface="Segoe UI"/>
              </a:defRPr>
            </a:pPr>
            <a:r>
              <a:t>Layer 1: Git Mirror</a:t>
            </a:r>
          </a:p>
        </p:txBody>
      </p:sp>
      <p:sp>
        <p:nvSpPr>
          <p:cNvPr id="18" name="TextBox 17"/>
          <p:cNvSpPr txBox="1"/>
          <p:nvPr/>
        </p:nvSpPr>
        <p:spPr>
          <a:xfrm>
            <a:off x="6583680" y="1828800"/>
            <a:ext cx="5029200" cy="274320"/>
          </a:xfrm>
          <a:prstGeom prst="rect">
            <a:avLst/>
          </a:prstGeom>
          <a:noFill/>
        </p:spPr>
        <p:txBody>
          <a:bodyPr wrap="square">
            <a:spAutoFit/>
          </a:bodyPr>
          <a:lstStyle/>
          <a:p>
            <a:pPr algn="l">
              <a:defRPr sz="1100" b="0">
                <a:solidFill>
                  <a:srgbClr val="C9D1D9"/>
                </a:solidFill>
                <a:latin typeface="Segoe UI"/>
              </a:defRPr>
            </a:pPr>
            <a:r>
              <a:t>Daily/hourly git clone --mirror — full repo history</a:t>
            </a:r>
          </a:p>
        </p:txBody>
      </p:sp>
      <p:sp>
        <p:nvSpPr>
          <p:cNvPr id="19" name="Rounded Rectangle 18"/>
          <p:cNvSpPr/>
          <p:nvPr/>
        </p:nvSpPr>
        <p:spPr>
          <a:xfrm>
            <a:off x="6400800" y="228600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331720"/>
            <a:ext cx="5029200" cy="274320"/>
          </a:xfrm>
          <a:prstGeom prst="rect">
            <a:avLst/>
          </a:prstGeom>
          <a:noFill/>
        </p:spPr>
        <p:txBody>
          <a:bodyPr wrap="square">
            <a:spAutoFit/>
          </a:bodyPr>
          <a:lstStyle/>
          <a:p>
            <a:pPr algn="l">
              <a:defRPr sz="1300" b="1">
                <a:solidFill>
                  <a:srgbClr val="58A6FF"/>
                </a:solidFill>
                <a:latin typeface="Segoe UI"/>
              </a:defRPr>
            </a:pPr>
            <a:r>
              <a:t>Layer 2: Metadata API</a:t>
            </a:r>
          </a:p>
        </p:txBody>
      </p:sp>
      <p:sp>
        <p:nvSpPr>
          <p:cNvPr id="21" name="TextBox 20"/>
          <p:cNvSpPr txBox="1"/>
          <p:nvPr/>
        </p:nvSpPr>
        <p:spPr>
          <a:xfrm>
            <a:off x="6583680" y="2606040"/>
            <a:ext cx="5029200" cy="274320"/>
          </a:xfrm>
          <a:prstGeom prst="rect">
            <a:avLst/>
          </a:prstGeom>
          <a:noFill/>
        </p:spPr>
        <p:txBody>
          <a:bodyPr wrap="square">
            <a:spAutoFit/>
          </a:bodyPr>
          <a:lstStyle/>
          <a:p>
            <a:pPr algn="l">
              <a:defRPr sz="1100" b="0">
                <a:solidFill>
                  <a:srgbClr val="C9D1D9"/>
                </a:solidFill>
                <a:latin typeface="Segoe UI"/>
              </a:defRPr>
            </a:pPr>
            <a:r>
              <a:t>Weekly REST/GraphQL export — issues, PRs, releases</a:t>
            </a:r>
          </a:p>
        </p:txBody>
      </p:sp>
      <p:sp>
        <p:nvSpPr>
          <p:cNvPr id="22" name="Rounded Rectangle 21"/>
          <p:cNvSpPr/>
          <p:nvPr/>
        </p:nvSpPr>
        <p:spPr>
          <a:xfrm>
            <a:off x="6400800" y="306324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3108960"/>
            <a:ext cx="5029200" cy="274320"/>
          </a:xfrm>
          <a:prstGeom prst="rect">
            <a:avLst/>
          </a:prstGeom>
          <a:noFill/>
        </p:spPr>
        <p:txBody>
          <a:bodyPr wrap="square">
            <a:spAutoFit/>
          </a:bodyPr>
          <a:lstStyle/>
          <a:p>
            <a:pPr algn="l">
              <a:defRPr sz="1300" b="1">
                <a:solidFill>
                  <a:srgbClr val="BC8CFF"/>
                </a:solidFill>
                <a:latin typeface="Segoe UI"/>
              </a:defRPr>
            </a:pPr>
            <a:r>
              <a:t>Layer 3: GHES Snapshots</a:t>
            </a:r>
          </a:p>
        </p:txBody>
      </p:sp>
      <p:sp>
        <p:nvSpPr>
          <p:cNvPr id="24" name="TextBox 23"/>
          <p:cNvSpPr txBox="1"/>
          <p:nvPr/>
        </p:nvSpPr>
        <p:spPr>
          <a:xfrm>
            <a:off x="6583680" y="3383280"/>
            <a:ext cx="5029200" cy="274320"/>
          </a:xfrm>
          <a:prstGeom prst="rect">
            <a:avLst/>
          </a:prstGeom>
          <a:noFill/>
        </p:spPr>
        <p:txBody>
          <a:bodyPr wrap="square">
            <a:spAutoFit/>
          </a:bodyPr>
          <a:lstStyle/>
          <a:p>
            <a:pPr algn="l">
              <a:defRPr sz="1100" b="0">
                <a:solidFill>
                  <a:srgbClr val="C9D1D9"/>
                </a:solidFill>
                <a:latin typeface="Segoe UI"/>
              </a:defRPr>
            </a:pPr>
            <a:r>
              <a:t>Incremental via backup-utils — zero downtime</a:t>
            </a:r>
          </a:p>
        </p:txBody>
      </p:sp>
      <p:sp>
        <p:nvSpPr>
          <p:cNvPr id="25" name="Rounded Rectangle 24"/>
          <p:cNvSpPr/>
          <p:nvPr/>
        </p:nvSpPr>
        <p:spPr>
          <a:xfrm>
            <a:off x="6400800" y="384048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886200"/>
            <a:ext cx="5029200" cy="274320"/>
          </a:xfrm>
          <a:prstGeom prst="rect">
            <a:avLst/>
          </a:prstGeom>
          <a:noFill/>
        </p:spPr>
        <p:txBody>
          <a:bodyPr wrap="square">
            <a:spAutoFit/>
          </a:bodyPr>
          <a:lstStyle/>
          <a:p>
            <a:pPr algn="l">
              <a:defRPr sz="1300" b="1">
                <a:solidFill>
                  <a:srgbClr val="D29E22"/>
                </a:solidFill>
                <a:latin typeface="Segoe UI"/>
              </a:defRPr>
            </a:pPr>
            <a:r>
              <a:t>Layer 4: Azure GRS/GZRS</a:t>
            </a:r>
          </a:p>
        </p:txBody>
      </p:sp>
      <p:sp>
        <p:nvSpPr>
          <p:cNvPr id="27" name="TextBox 26"/>
          <p:cNvSpPr txBox="1"/>
          <p:nvPr/>
        </p:nvSpPr>
        <p:spPr>
          <a:xfrm>
            <a:off x="6583680" y="4160520"/>
            <a:ext cx="5029200" cy="274320"/>
          </a:xfrm>
          <a:prstGeom prst="rect">
            <a:avLst/>
          </a:prstGeom>
          <a:noFill/>
        </p:spPr>
        <p:txBody>
          <a:bodyPr wrap="square">
            <a:spAutoFit/>
          </a:bodyPr>
          <a:lstStyle/>
          <a:p>
            <a:pPr algn="l">
              <a:defRPr sz="1100" b="0">
                <a:solidFill>
                  <a:srgbClr val="C9D1D9"/>
                </a:solidFill>
                <a:latin typeface="Segoe UI"/>
              </a:defRPr>
            </a:pPr>
            <a:r>
              <a:t>Geo-redundant cross-region — 16 nines durability</a:t>
            </a:r>
          </a:p>
        </p:txBody>
      </p:sp>
      <p:sp>
        <p:nvSpPr>
          <p:cNvPr id="28" name="TextBox 27"/>
          <p:cNvSpPr txBox="1"/>
          <p:nvPr/>
        </p:nvSpPr>
        <p:spPr>
          <a:xfrm>
            <a:off x="6400800" y="4754880"/>
            <a:ext cx="5029200" cy="274320"/>
          </a:xfrm>
          <a:prstGeom prst="rect">
            <a:avLst/>
          </a:prstGeom>
          <a:noFill/>
        </p:spPr>
        <p:txBody>
          <a:bodyPr wrap="square">
            <a:spAutoFit/>
          </a:bodyPr>
          <a:lstStyle/>
          <a:p>
            <a:pPr algn="l">
              <a:defRPr sz="1300" b="1">
                <a:solidFill>
                  <a:srgbClr val="F85349"/>
                </a:solidFill>
                <a:latin typeface="Segoe UI"/>
              </a:defRPr>
            </a:pPr>
            <a:r>
              <a:t>Outage Playbooks:</a:t>
            </a:r>
          </a:p>
        </p:txBody>
      </p:sp>
      <p:sp>
        <p:nvSpPr>
          <p:cNvPr id="29" name="TextBox 28"/>
          <p:cNvSpPr txBox="1"/>
          <p:nvPr/>
        </p:nvSpPr>
        <p:spPr>
          <a:xfrm>
            <a:off x="6400800" y="5029200"/>
            <a:ext cx="5303520" cy="731520"/>
          </a:xfrm>
          <a:prstGeom prst="rect">
            <a:avLst/>
          </a:prstGeom>
          <a:noFill/>
        </p:spPr>
        <p:txBody>
          <a:bodyPr wrap="square">
            <a:spAutoFit/>
          </a:bodyPr>
          <a:lstStyle/>
          <a:p>
            <a:pPr algn="l">
              <a:defRPr sz="1100" b="0">
                <a:solidFill>
                  <a:srgbClr val="C9D1D9"/>
                </a:solidFill>
                <a:latin typeface="Segoe UI"/>
              </a:defRPr>
            </a:pPr>
            <a:r>
              <a:t>A. GitHub.com outage → Failover to GHES</a:t>
            </a:r>
            <a:br/>
            <a:r>
              <a:t>B. Azure region outage → GRS failover to paired region</a:t>
            </a:r>
            <a:br/>
            <a:r>
              <a:t>C. Data corruption → Restore from mirror + metadata re-import</a:t>
            </a:r>
          </a:p>
        </p:txBody>
      </p:sp>
      <p:sp>
        <p:nvSpPr>
          <p:cNvPr id="30" name="TextBox 29"/>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Responsibilities, Resources &amp; Next Steps</a:t>
            </a:r>
          </a:p>
        </p:txBody>
      </p:sp>
      <p:sp>
        <p:nvSpPr>
          <p:cNvPr id="3" name="Rounded Rectangle 2"/>
          <p:cNvSpPr/>
          <p:nvPr/>
        </p:nvSpPr>
        <p:spPr>
          <a:xfrm>
            <a:off x="731520" y="1097280"/>
            <a:ext cx="3566160" cy="146304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88720"/>
            <a:ext cx="3291840" cy="320040"/>
          </a:xfrm>
          <a:prstGeom prst="rect">
            <a:avLst/>
          </a:prstGeom>
          <a:noFill/>
        </p:spPr>
        <p:txBody>
          <a:bodyPr wrap="square">
            <a:spAutoFit/>
          </a:bodyPr>
          <a:lstStyle/>
          <a:p>
            <a:pPr algn="ctr">
              <a:defRPr sz="1400" b="1">
                <a:solidFill>
                  <a:srgbClr val="238636"/>
                </a:solidFill>
                <a:latin typeface="Segoe UI"/>
              </a:defRPr>
            </a:pPr>
            <a:r>
              <a:t>🛠️  DevOps Team</a:t>
            </a:r>
          </a:p>
        </p:txBody>
      </p:sp>
      <p:sp>
        <p:nvSpPr>
          <p:cNvPr id="5" name="TextBox 4"/>
          <p:cNvSpPr txBox="1"/>
          <p:nvPr/>
        </p:nvSpPr>
        <p:spPr>
          <a:xfrm>
            <a:off x="914400" y="1554480"/>
            <a:ext cx="3200400" cy="914400"/>
          </a:xfrm>
          <a:prstGeom prst="rect">
            <a:avLst/>
          </a:prstGeom>
          <a:noFill/>
        </p:spPr>
        <p:txBody>
          <a:bodyPr wrap="square">
            <a:spAutoFit/>
          </a:bodyPr>
          <a:lstStyle/>
          <a:p>
            <a:pPr algn="ctr">
              <a:defRPr sz="1200" b="0">
                <a:solidFill>
                  <a:srgbClr val="C9D1D9"/>
                </a:solidFill>
                <a:latin typeface="Segoe UI"/>
              </a:defRPr>
            </a:pPr>
            <a:r>
              <a:t>Execute mirror backups</a:t>
            </a:r>
            <a:br/>
            <a:r>
              <a:t>Manage GHES snapshots &amp; replicas</a:t>
            </a:r>
            <a:br/>
            <a:r>
              <a:t>Run recovery procedures</a:t>
            </a:r>
          </a:p>
        </p:txBody>
      </p:sp>
      <p:sp>
        <p:nvSpPr>
          <p:cNvPr id="6" name="Rounded Rectangle 5"/>
          <p:cNvSpPr/>
          <p:nvPr/>
        </p:nvSpPr>
        <p:spPr>
          <a:xfrm>
            <a:off x="4480559" y="1097280"/>
            <a:ext cx="3566160" cy="146304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19" y="1188720"/>
            <a:ext cx="3291840" cy="320040"/>
          </a:xfrm>
          <a:prstGeom prst="rect">
            <a:avLst/>
          </a:prstGeom>
          <a:noFill/>
        </p:spPr>
        <p:txBody>
          <a:bodyPr wrap="square">
            <a:spAutoFit/>
          </a:bodyPr>
          <a:lstStyle/>
          <a:p>
            <a:pPr algn="ctr">
              <a:defRPr sz="1400" b="1">
                <a:solidFill>
                  <a:srgbClr val="58A6FF"/>
                </a:solidFill>
                <a:latin typeface="Segoe UI"/>
              </a:defRPr>
            </a:pPr>
            <a:r>
              <a:t>🔒  Security Team</a:t>
            </a:r>
          </a:p>
        </p:txBody>
      </p:sp>
      <p:sp>
        <p:nvSpPr>
          <p:cNvPr id="8" name="TextBox 7"/>
          <p:cNvSpPr txBox="1"/>
          <p:nvPr/>
        </p:nvSpPr>
        <p:spPr>
          <a:xfrm>
            <a:off x="4663439" y="1554480"/>
            <a:ext cx="3200400" cy="914400"/>
          </a:xfrm>
          <a:prstGeom prst="rect">
            <a:avLst/>
          </a:prstGeom>
          <a:noFill/>
        </p:spPr>
        <p:txBody>
          <a:bodyPr wrap="square">
            <a:spAutoFit/>
          </a:bodyPr>
          <a:lstStyle/>
          <a:p>
            <a:pPr algn="ctr">
              <a:defRPr sz="1200" b="0">
                <a:solidFill>
                  <a:srgbClr val="C9D1D9"/>
                </a:solidFill>
                <a:latin typeface="Segoe UI"/>
              </a:defRPr>
            </a:pPr>
            <a:r>
              <a:t>Validate air-gapped controls</a:t>
            </a:r>
            <a:br/>
            <a:r>
              <a:t>Manage encryption keys</a:t>
            </a:r>
            <a:br/>
            <a:r>
              <a:t>Enforce retention policies</a:t>
            </a:r>
          </a:p>
        </p:txBody>
      </p:sp>
      <p:sp>
        <p:nvSpPr>
          <p:cNvPr id="9" name="Rounded Rectangle 8"/>
          <p:cNvSpPr/>
          <p:nvPr/>
        </p:nvSpPr>
        <p:spPr>
          <a:xfrm>
            <a:off x="8229598" y="1097280"/>
            <a:ext cx="3566160" cy="146304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58" y="1188720"/>
            <a:ext cx="3291840" cy="320040"/>
          </a:xfrm>
          <a:prstGeom prst="rect">
            <a:avLst/>
          </a:prstGeom>
          <a:noFill/>
        </p:spPr>
        <p:txBody>
          <a:bodyPr wrap="square">
            <a:spAutoFit/>
          </a:bodyPr>
          <a:lstStyle/>
          <a:p>
            <a:pPr algn="ctr">
              <a:defRPr sz="1400" b="1">
                <a:solidFill>
                  <a:srgbClr val="BC8CFF"/>
                </a:solidFill>
                <a:latin typeface="Segoe UI"/>
              </a:defRPr>
            </a:pPr>
            <a:r>
              <a:t>🤝  GitHub / Microsoft SE</a:t>
            </a:r>
          </a:p>
        </p:txBody>
      </p:sp>
      <p:sp>
        <p:nvSpPr>
          <p:cNvPr id="11" name="TextBox 10"/>
          <p:cNvSpPr txBox="1"/>
          <p:nvPr/>
        </p:nvSpPr>
        <p:spPr>
          <a:xfrm>
            <a:off x="8412478" y="1554480"/>
            <a:ext cx="3200400" cy="914400"/>
          </a:xfrm>
          <a:prstGeom prst="rect">
            <a:avLst/>
          </a:prstGeom>
          <a:noFill/>
        </p:spPr>
        <p:txBody>
          <a:bodyPr wrap="square">
            <a:spAutoFit/>
          </a:bodyPr>
          <a:lstStyle/>
          <a:p>
            <a:pPr algn="ctr">
              <a:defRPr sz="1200" b="0">
                <a:solidFill>
                  <a:srgbClr val="C9D1D9"/>
                </a:solidFill>
                <a:latin typeface="Segoe UI"/>
              </a:defRPr>
            </a:pPr>
            <a:r>
              <a:t>Architecture design support</a:t>
            </a:r>
            <a:br/>
            <a:r>
              <a:t>Migration assistance</a:t>
            </a:r>
            <a:br/>
            <a:r>
              <a:t>Escalation handling</a:t>
            </a:r>
          </a:p>
        </p:txBody>
      </p:sp>
      <p:sp>
        <p:nvSpPr>
          <p:cNvPr id="12" name="TextBox 11"/>
          <p:cNvSpPr txBox="1"/>
          <p:nvPr/>
        </p:nvSpPr>
        <p:spPr>
          <a:xfrm>
            <a:off x="731520" y="2834640"/>
            <a:ext cx="4572000" cy="365760"/>
          </a:xfrm>
          <a:prstGeom prst="rect">
            <a:avLst/>
          </a:prstGeom>
          <a:noFill/>
        </p:spPr>
        <p:txBody>
          <a:bodyPr wrap="square">
            <a:spAutoFit/>
          </a:bodyPr>
          <a:lstStyle/>
          <a:p>
            <a:pPr algn="l">
              <a:defRPr sz="1600" b="1">
                <a:solidFill>
                  <a:srgbClr val="238636"/>
                </a:solidFill>
                <a:latin typeface="Segoe UI"/>
              </a:defRPr>
            </a:pPr>
            <a:r>
              <a:t>🚀  Recommended Next Steps</a:t>
            </a:r>
          </a:p>
        </p:txBody>
      </p:sp>
      <p:sp>
        <p:nvSpPr>
          <p:cNvPr id="13" name="TextBox 12"/>
          <p:cNvSpPr txBox="1"/>
          <p:nvPr/>
        </p:nvSpPr>
        <p:spPr>
          <a:xfrm>
            <a:off x="914400" y="3291840"/>
            <a:ext cx="4572000" cy="320040"/>
          </a:xfrm>
          <a:prstGeom prst="rect">
            <a:avLst/>
          </a:prstGeom>
          <a:noFill/>
        </p:spPr>
        <p:txBody>
          <a:bodyPr wrap="square">
            <a:spAutoFit/>
          </a:bodyPr>
          <a:lstStyle/>
          <a:p>
            <a:pPr algn="l">
              <a:defRPr sz="1300" b="0">
                <a:solidFill>
                  <a:srgbClr val="C9D1D9"/>
                </a:solidFill>
                <a:latin typeface="Segoe UI"/>
              </a:defRPr>
            </a:pPr>
            <a:r>
              <a:t>1.  Run trial GEI migration with 2-3 repos</a:t>
            </a:r>
          </a:p>
        </p:txBody>
      </p:sp>
      <p:sp>
        <p:nvSpPr>
          <p:cNvPr id="14" name="TextBox 13"/>
          <p:cNvSpPr txBox="1"/>
          <p:nvPr/>
        </p:nvSpPr>
        <p:spPr>
          <a:xfrm>
            <a:off x="914400" y="3611880"/>
            <a:ext cx="4572000" cy="320040"/>
          </a:xfrm>
          <a:prstGeom prst="rect">
            <a:avLst/>
          </a:prstGeom>
          <a:noFill/>
        </p:spPr>
        <p:txBody>
          <a:bodyPr wrap="square">
            <a:spAutoFit/>
          </a:bodyPr>
          <a:lstStyle/>
          <a:p>
            <a:pPr algn="l">
              <a:defRPr sz="1300" b="0">
                <a:solidFill>
                  <a:srgbClr val="C9D1D9"/>
                </a:solidFill>
                <a:latin typeface="Segoe UI"/>
              </a:defRPr>
            </a:pPr>
            <a:r>
              <a:t>2.  Deploy HA replica in separate AZ/region</a:t>
            </a:r>
          </a:p>
        </p:txBody>
      </p:sp>
      <p:sp>
        <p:nvSpPr>
          <p:cNvPr id="15" name="TextBox 14"/>
          <p:cNvSpPr txBox="1"/>
          <p:nvPr/>
        </p:nvSpPr>
        <p:spPr>
          <a:xfrm>
            <a:off x="914400" y="3931920"/>
            <a:ext cx="4572000" cy="320040"/>
          </a:xfrm>
          <a:prstGeom prst="rect">
            <a:avLst/>
          </a:prstGeom>
          <a:noFill/>
        </p:spPr>
        <p:txBody>
          <a:bodyPr wrap="square">
            <a:spAutoFit/>
          </a:bodyPr>
          <a:lstStyle/>
          <a:p>
            <a:pPr algn="l">
              <a:defRPr sz="1300" b="0">
                <a:solidFill>
                  <a:srgbClr val="C9D1D9"/>
                </a:solidFill>
                <a:latin typeface="Segoe UI"/>
              </a:defRPr>
            </a:pPr>
            <a:r>
              <a:t>3.  Implement automated git mirror pipeline</a:t>
            </a:r>
          </a:p>
        </p:txBody>
      </p:sp>
      <p:sp>
        <p:nvSpPr>
          <p:cNvPr id="16" name="TextBox 15"/>
          <p:cNvSpPr txBox="1"/>
          <p:nvPr/>
        </p:nvSpPr>
        <p:spPr>
          <a:xfrm>
            <a:off x="914400" y="4251960"/>
            <a:ext cx="4572000" cy="320040"/>
          </a:xfrm>
          <a:prstGeom prst="rect">
            <a:avLst/>
          </a:prstGeom>
          <a:noFill/>
        </p:spPr>
        <p:txBody>
          <a:bodyPr wrap="square">
            <a:spAutoFit/>
          </a:bodyPr>
          <a:lstStyle/>
          <a:p>
            <a:pPr algn="l">
              <a:defRPr sz="1300" b="0">
                <a:solidFill>
                  <a:srgbClr val="C9D1D9"/>
                </a:solidFill>
                <a:latin typeface="Segoe UI"/>
              </a:defRPr>
            </a:pPr>
            <a:r>
              <a:t>4.  Configure Azure GRS/GZRS + lifecycle rules</a:t>
            </a:r>
          </a:p>
        </p:txBody>
      </p:sp>
      <p:sp>
        <p:nvSpPr>
          <p:cNvPr id="17" name="TextBox 16"/>
          <p:cNvSpPr txBox="1"/>
          <p:nvPr/>
        </p:nvSpPr>
        <p:spPr>
          <a:xfrm>
            <a:off x="914400" y="4572000"/>
            <a:ext cx="4572000" cy="320040"/>
          </a:xfrm>
          <a:prstGeom prst="rect">
            <a:avLst/>
          </a:prstGeom>
          <a:noFill/>
        </p:spPr>
        <p:txBody>
          <a:bodyPr wrap="square">
            <a:spAutoFit/>
          </a:bodyPr>
          <a:lstStyle/>
          <a:p>
            <a:pPr algn="l">
              <a:defRPr sz="1300" b="0">
                <a:solidFill>
                  <a:srgbClr val="C9D1D9"/>
                </a:solidFill>
                <a:latin typeface="Segoe UI"/>
              </a:defRPr>
            </a:pPr>
            <a:r>
              <a:t>5.  Conduct tabletop exercise for each outage scenario</a:t>
            </a:r>
          </a:p>
        </p:txBody>
      </p:sp>
      <p:sp>
        <p:nvSpPr>
          <p:cNvPr id="18" name="TextBox 17"/>
          <p:cNvSpPr txBox="1"/>
          <p:nvPr/>
        </p:nvSpPr>
        <p:spPr>
          <a:xfrm>
            <a:off x="6400800" y="2834640"/>
            <a:ext cx="5029200" cy="365760"/>
          </a:xfrm>
          <a:prstGeom prst="rect">
            <a:avLst/>
          </a:prstGeom>
          <a:noFill/>
        </p:spPr>
        <p:txBody>
          <a:bodyPr wrap="square">
            <a:spAutoFit/>
          </a:bodyPr>
          <a:lstStyle/>
          <a:p>
            <a:pPr algn="l">
              <a:defRPr sz="1600" b="1">
                <a:solidFill>
                  <a:srgbClr val="58A6FF"/>
                </a:solidFill>
                <a:latin typeface="Segoe UI"/>
              </a:defRPr>
            </a:pPr>
            <a:r>
              <a:t>📚  Official Documentation</a:t>
            </a:r>
          </a:p>
        </p:txBody>
      </p:sp>
      <p:sp>
        <p:nvSpPr>
          <p:cNvPr id="19" name="TextBox 18"/>
          <p:cNvSpPr txBox="1"/>
          <p:nvPr/>
        </p:nvSpPr>
        <p:spPr>
          <a:xfrm>
            <a:off x="6583680" y="3246120"/>
            <a:ext cx="4846320" cy="274320"/>
          </a:xfrm>
          <a:prstGeom prst="rect">
            <a:avLst/>
          </a:prstGeom>
          <a:noFill/>
        </p:spPr>
        <p:txBody>
          <a:bodyPr wrap="square">
            <a:spAutoFit/>
          </a:bodyPr>
          <a:lstStyle/>
          <a:p>
            <a:pPr algn="l">
              <a:defRPr sz="1200" b="1">
                <a:solidFill>
                  <a:srgbClr val="FFFFFF"/>
                </a:solidFill>
                <a:latin typeface="Segoe UI"/>
              </a:defRPr>
            </a:pPr>
            <a:r>
              <a:t>Git Mirror Backup</a:t>
            </a:r>
          </a:p>
        </p:txBody>
      </p:sp>
      <p:sp>
        <p:nvSpPr>
          <p:cNvPr id="20" name="TextBox 19"/>
          <p:cNvSpPr txBox="1"/>
          <p:nvPr/>
        </p:nvSpPr>
        <p:spPr>
          <a:xfrm>
            <a:off x="6583680" y="3474720"/>
            <a:ext cx="4846320" cy="274320"/>
          </a:xfrm>
          <a:prstGeom prst="rect">
            <a:avLst/>
          </a:prstGeom>
          <a:noFill/>
        </p:spPr>
        <p:txBody>
          <a:bodyPr wrap="square">
            <a:spAutoFit/>
          </a:bodyPr>
          <a:lstStyle/>
          <a:p>
            <a:pPr algn="l">
              <a:defRPr sz="1000" b="0">
                <a:solidFill>
                  <a:srgbClr val="8B949E"/>
                </a:solidFill>
                <a:latin typeface="Segoe UI"/>
              </a:defRPr>
            </a:pPr>
            <a:r>
              <a:t>docs.github.com/.../backing-up-a-repository</a:t>
            </a:r>
          </a:p>
        </p:txBody>
      </p:sp>
      <p:sp>
        <p:nvSpPr>
          <p:cNvPr id="21" name="TextBox 20"/>
          <p:cNvSpPr txBox="1"/>
          <p:nvPr/>
        </p:nvSpPr>
        <p:spPr>
          <a:xfrm>
            <a:off x="6583680" y="3794760"/>
            <a:ext cx="4846320" cy="274320"/>
          </a:xfrm>
          <a:prstGeom prst="rect">
            <a:avLst/>
          </a:prstGeom>
          <a:noFill/>
        </p:spPr>
        <p:txBody>
          <a:bodyPr wrap="square">
            <a:spAutoFit/>
          </a:bodyPr>
          <a:lstStyle/>
          <a:p>
            <a:pPr algn="l">
              <a:defRPr sz="1200" b="1">
                <a:solidFill>
                  <a:srgbClr val="FFFFFF"/>
                </a:solidFill>
                <a:latin typeface="Segoe UI"/>
              </a:defRPr>
            </a:pPr>
            <a:r>
              <a:t>GitHub Backup Utilities</a:t>
            </a:r>
          </a:p>
        </p:txBody>
      </p:sp>
      <p:sp>
        <p:nvSpPr>
          <p:cNvPr id="22" name="TextBox 21"/>
          <p:cNvSpPr txBox="1"/>
          <p:nvPr/>
        </p:nvSpPr>
        <p:spPr>
          <a:xfrm>
            <a:off x="6583680" y="4023360"/>
            <a:ext cx="4846320" cy="274320"/>
          </a:xfrm>
          <a:prstGeom prst="rect">
            <a:avLst/>
          </a:prstGeom>
          <a:noFill/>
        </p:spPr>
        <p:txBody>
          <a:bodyPr wrap="square">
            <a:spAutoFit/>
          </a:bodyPr>
          <a:lstStyle/>
          <a:p>
            <a:pPr algn="l">
              <a:defRPr sz="1000" b="0">
                <a:solidFill>
                  <a:srgbClr val="8B949E"/>
                </a:solidFill>
                <a:latin typeface="Segoe UI"/>
              </a:defRPr>
            </a:pPr>
            <a:r>
              <a:t>github.com/github/backup-utils</a:t>
            </a:r>
          </a:p>
        </p:txBody>
      </p:sp>
      <p:sp>
        <p:nvSpPr>
          <p:cNvPr id="23" name="TextBox 22"/>
          <p:cNvSpPr txBox="1"/>
          <p:nvPr/>
        </p:nvSpPr>
        <p:spPr>
          <a:xfrm>
            <a:off x="6583680" y="4343400"/>
            <a:ext cx="4846320" cy="274320"/>
          </a:xfrm>
          <a:prstGeom prst="rect">
            <a:avLst/>
          </a:prstGeom>
          <a:noFill/>
        </p:spPr>
        <p:txBody>
          <a:bodyPr wrap="square">
            <a:spAutoFit/>
          </a:bodyPr>
          <a:lstStyle/>
          <a:p>
            <a:pPr algn="l">
              <a:defRPr sz="1200" b="1">
                <a:solidFill>
                  <a:srgbClr val="FFFFFF"/>
                </a:solidFill>
                <a:latin typeface="Segoe UI"/>
              </a:defRPr>
            </a:pPr>
            <a:r>
              <a:t>GHES HA Replica Setup</a:t>
            </a:r>
          </a:p>
        </p:txBody>
      </p:sp>
      <p:sp>
        <p:nvSpPr>
          <p:cNvPr id="24" name="TextBox 23"/>
          <p:cNvSpPr txBox="1"/>
          <p:nvPr/>
        </p:nvSpPr>
        <p:spPr>
          <a:xfrm>
            <a:off x="6583680" y="4572000"/>
            <a:ext cx="4846320" cy="274320"/>
          </a:xfrm>
          <a:prstGeom prst="rect">
            <a:avLst/>
          </a:prstGeom>
          <a:noFill/>
        </p:spPr>
        <p:txBody>
          <a:bodyPr wrap="square">
            <a:spAutoFit/>
          </a:bodyPr>
          <a:lstStyle/>
          <a:p>
            <a:pPr algn="l">
              <a:defRPr sz="1000" b="0">
                <a:solidFill>
                  <a:srgbClr val="8B949E"/>
                </a:solidFill>
                <a:latin typeface="Segoe UI"/>
              </a:defRPr>
            </a:pPr>
            <a:r>
              <a:t>docs.github.com/.../creating-a-high-availability-replica</a:t>
            </a:r>
          </a:p>
        </p:txBody>
      </p:sp>
      <p:sp>
        <p:nvSpPr>
          <p:cNvPr id="25" name="TextBox 24"/>
          <p:cNvSpPr txBox="1"/>
          <p:nvPr/>
        </p:nvSpPr>
        <p:spPr>
          <a:xfrm>
            <a:off x="6583680" y="4892040"/>
            <a:ext cx="4846320" cy="274320"/>
          </a:xfrm>
          <a:prstGeom prst="rect">
            <a:avLst/>
          </a:prstGeom>
          <a:noFill/>
        </p:spPr>
        <p:txBody>
          <a:bodyPr wrap="square">
            <a:spAutoFit/>
          </a:bodyPr>
          <a:lstStyle/>
          <a:p>
            <a:pPr algn="l">
              <a:defRPr sz="1200" b="1">
                <a:solidFill>
                  <a:srgbClr val="FFFFFF"/>
                </a:solidFill>
                <a:latin typeface="Segoe UI"/>
              </a:defRPr>
            </a:pPr>
            <a:r>
              <a:t>GHES Geo-Replication</a:t>
            </a:r>
          </a:p>
        </p:txBody>
      </p:sp>
      <p:sp>
        <p:nvSpPr>
          <p:cNvPr id="26" name="TextBox 25"/>
          <p:cNvSpPr txBox="1"/>
          <p:nvPr/>
        </p:nvSpPr>
        <p:spPr>
          <a:xfrm>
            <a:off x="6583680" y="5120640"/>
            <a:ext cx="4846320" cy="274320"/>
          </a:xfrm>
          <a:prstGeom prst="rect">
            <a:avLst/>
          </a:prstGeom>
          <a:noFill/>
        </p:spPr>
        <p:txBody>
          <a:bodyPr wrap="square">
            <a:spAutoFit/>
          </a:bodyPr>
          <a:lstStyle/>
          <a:p>
            <a:pPr algn="l">
              <a:defRPr sz="1000" b="0">
                <a:solidFill>
                  <a:srgbClr val="8B949E"/>
                </a:solidFill>
                <a:latin typeface="Segoe UI"/>
              </a:defRPr>
            </a:pPr>
            <a:r>
              <a:t>docs.github.com/.../about-geo-replication</a:t>
            </a:r>
          </a:p>
        </p:txBody>
      </p:sp>
      <p:sp>
        <p:nvSpPr>
          <p:cNvPr id="27" name="TextBox 26"/>
          <p:cNvSpPr txBox="1"/>
          <p:nvPr/>
        </p:nvSpPr>
        <p:spPr>
          <a:xfrm>
            <a:off x="6583680" y="5440680"/>
            <a:ext cx="4846320" cy="274320"/>
          </a:xfrm>
          <a:prstGeom prst="rect">
            <a:avLst/>
          </a:prstGeom>
          <a:noFill/>
        </p:spPr>
        <p:txBody>
          <a:bodyPr wrap="square">
            <a:spAutoFit/>
          </a:bodyPr>
          <a:lstStyle/>
          <a:p>
            <a:pPr algn="l">
              <a:defRPr sz="1200" b="1">
                <a:solidFill>
                  <a:srgbClr val="FFFFFF"/>
                </a:solidFill>
                <a:latin typeface="Segoe UI"/>
              </a:defRPr>
            </a:pPr>
            <a:r>
              <a:t>Azure GRS/GZRS</a:t>
            </a:r>
          </a:p>
        </p:txBody>
      </p:sp>
      <p:sp>
        <p:nvSpPr>
          <p:cNvPr id="28" name="TextBox 27"/>
          <p:cNvSpPr txBox="1"/>
          <p:nvPr/>
        </p:nvSpPr>
        <p:spPr>
          <a:xfrm>
            <a:off x="6583680" y="5669280"/>
            <a:ext cx="4846320" cy="274320"/>
          </a:xfrm>
          <a:prstGeom prst="rect">
            <a:avLst/>
          </a:prstGeom>
          <a:noFill/>
        </p:spPr>
        <p:txBody>
          <a:bodyPr wrap="square">
            <a:spAutoFit/>
          </a:bodyPr>
          <a:lstStyle/>
          <a:p>
            <a:pPr algn="l">
              <a:defRPr sz="1000" b="0">
                <a:solidFill>
                  <a:srgbClr val="8B949E"/>
                </a:solidFill>
                <a:latin typeface="Segoe UI"/>
              </a:defRPr>
            </a:pPr>
            <a:r>
              <a:t>learn.microsoft.com/.../storage-redundancy</a:t>
            </a:r>
          </a:p>
        </p:txBody>
      </p:sp>
      <p:sp>
        <p:nvSpPr>
          <p:cNvPr id="29" name="TextBox 28"/>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