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84" r:id="rId35"/>
    <p:sldId id="285" r:id="rId36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2" r:id="rId33"/>
    <p:sldId id="283" r:id="rId34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8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GitHub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58A6FF"/>
                </a:solidFill>
                <a:latin typeface="Segoe UI"/>
              </a:defRPr>
            </a:pPr>
            <a:r>
              <a:t>Migration &amp; Resilience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GHES → GHEC Migration  •  HA Replica &amp; Geo-Replication  •  Backup &amp; DR  •  Outage Playbooks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63500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5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79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10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architecture for business continuity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59152"/>
            <a:ext cx="63500" cy="5943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099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FB95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384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14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Enterprise Importer workflow, phases &amp; tooling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63824"/>
            <a:ext cx="63500" cy="59436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1462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9D353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1892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HA Replica &amp; Geo-Replication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194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Active/passive failover, geo-replicas, DNS 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68496"/>
            <a:ext cx="63500" cy="59436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192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29A22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993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240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4-layer backup approach: Mirror, Metadata, Snapshots, Azure DR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73168"/>
            <a:ext cx="63500" cy="59436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23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5149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798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5128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GitHub.com, Azure region, and data corruption scenarios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63500" cy="59436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628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C8C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60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Responsibilities &amp; 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93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Team roles, documentation links, action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Resilience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Business continuity requires multiple layers of protection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⚠️  Platform Outage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GitHub.com or cloud</a:t>
            </a:r>
            <a:br/>
            <a:r>
              <a:t>provider experiences</a:t>
            </a:r>
            <a:br/>
            <a:r>
              <a:t>downtime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5149"/>
                </a:solidFill>
                <a:latin typeface="Segoe UI"/>
              </a:defRPr>
            </a:pPr>
            <a:r>
              <a:t>🗑️  Data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Accidental deletion,</a:t>
            </a:r>
            <a:br/>
            <a:r>
              <a:t>corruption, or</a:t>
            </a:r>
            <a:br/>
            <a:r>
              <a:t>ransomware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C8CFF"/>
                </a:solidFill>
                <a:latin typeface="Segoe UI"/>
              </a:defRPr>
            </a:pPr>
            <a:r>
              <a:t>📋 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4688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  <a:latin typeface="Segoe UI"/>
              </a:defRPr>
            </a:pPr>
            <a:r>
              <a:t>Regulatory requirements</a:t>
            </a:r>
            <a:br/>
            <a:r>
              <a:t>for data residency,</a:t>
            </a:r>
            <a:br/>
            <a:r>
              <a:t>retention &amp;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3/30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120640" cy="1280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🤝  GitHub's Commitment to You</a:t>
            </a:r>
          </a:p>
          <a:p>
            <a:pPr>
              <a:spcBef>
                <a:spcPts val="400"/>
              </a:spcBef>
              <a:defRPr sz="1300">
                <a:solidFill>
                  <a:srgbClr val="E6EDF3"/>
                </a:solidFill>
              </a:defRPr>
            </a:pPr>
            <a:r>
              <a:t>GitHub Enterprise Cloud provides a 99.9% uptime SLA with service credits, multi-region infrastructure redundancy, and 24/7 enterprise support. We are your partner in building a resilient, protected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297680"/>
            <a:ext cx="5394960" cy="12801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✅  Your Resilience Guarantee</a:t>
            </a:r>
          </a:p>
          <a:p>
            <a:pPr>
              <a:spcBef>
                <a:spcPts val="400"/>
              </a:spcBef>
              <a:defRPr sz="1300">
                <a:solidFill>
                  <a:srgbClr val="E6EDF3"/>
                </a:solidFill>
              </a:defRPr>
            </a:pPr>
            <a:r>
              <a:t>By implementing this architecture — GHES HA replicas, backup-utils snapshots, Azure GRS/GZRS storage, and air-gapped failover — you achieve near-zero RPO and sub-30-minute RTO for every failure scenario.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Resilience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4 complementary layers ensuring business continuity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828800"/>
            <a:ext cx="594360" cy="5943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58A6FF"/>
                </a:solidFill>
                <a:latin typeface="Segoe UI"/>
              </a:defRPr>
            </a:pPr>
            <a:r>
              <a:t>SaaS Layer</a:t>
            </a:r>
            <a:br/>
            <a:r>
              <a:t>GHEC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Primary collaboration</a:t>
            </a:r>
            <a:br/>
            <a:r>
              <a:t>Multi-region redundancy</a:t>
            </a:r>
            <a:br/>
            <a:r>
              <a:t>Git mirror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43400" y="1828800"/>
            <a:ext cx="594360" cy="59436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FB950"/>
                </a:solidFill>
                <a:latin typeface="Segoe UI"/>
              </a:defRPr>
            </a:pPr>
            <a:r>
              <a:t>Self-Managed</a:t>
            </a:r>
            <a:br/>
            <a:r>
              <a:t>GHES + 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HA active/passive</a:t>
            </a:r>
            <a:br/>
            <a:r>
              <a:t>Geo-replication</a:t>
            </a:r>
            <a:br/>
            <a:r>
              <a:t>Full backup snapshots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828800"/>
            <a:ext cx="594360" cy="59436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29A22"/>
                </a:solidFill>
                <a:latin typeface="Segoe UI"/>
              </a:defRPr>
            </a:pPr>
            <a:r>
              <a:t>Azure</a:t>
            </a:r>
            <a:br/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GRS / GZRS storage</a:t>
            </a:r>
            <a:br/>
            <a:r>
              <a:t>Cross-region DR</a:t>
            </a:r>
            <a:br/>
            <a:r>
              <a:t>Archival backups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651760" cy="4114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4120" y="1828800"/>
            <a:ext cx="594360" cy="59436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C8CFF"/>
                </a:solidFill>
                <a:latin typeface="Segoe UI"/>
              </a:defRPr>
            </a:pPr>
            <a:r>
              <a:t>Local</a:t>
            </a:r>
            <a:br/>
            <a: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4747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Air-gapped GHES</a:t>
            </a:r>
            <a:br/>
            <a:r>
              <a:t>Offline secure storage</a:t>
            </a:r>
            <a:br/>
            <a:r>
              <a:t>Cloud-independent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A: GitHub Enterprise Cloud (GHEC)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Primary SaaS collaboration platform with built-in redundancy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5608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Multi-Region Redundancy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5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GitHub.com infrastructure spans multiple regions with automatic failover, ensuring high availability for code hosting and collaboration.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7904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 Mirroring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82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Supports git clone --mirror for full repository extraction including all refs, branches, tags, and history. Enables offline backup strategies.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0200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GitHub Enterprise Importer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05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Self-serve migration tool for importing repositories, issues, PRs, and metadata from GHES, GitLab, Bitbucket, and Azure DevOps.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2496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API-Driven Metadata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328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REST and GraphQL APIs enable programmatic export of issues, PRs, releases, projects, and Actions workflows for backup.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47920"/>
            <a:ext cx="127000" cy="1270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151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SOC 2, FedRAMP, GDPR compliance. Advanced Security features including secret scanning, code scanning, and Dependabot.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B: GitHub Enterprise Server (GHES)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Self-hosted deployment for air-gapped, regulated, or offline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High Availability (HA)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Primary/replica topology</a:t>
            </a:r>
            <a:br/>
            <a:r>
              <a:t>Automatic failover</a:t>
            </a:r>
            <a:br/>
            <a:r>
              <a:t>Synchronous replication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Geo-Replication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Active read replicas</a:t>
            </a:r>
            <a:br/>
            <a:r>
              <a:t>Multiple geographic sites</a:t>
            </a:r>
            <a:br/>
            <a:r>
              <a:t>Load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Backup Utilities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Incremental snapshots</a:t>
            </a:r>
            <a:br/>
            <a:r>
              <a:t>Online (no downtime)</a:t>
            </a:r>
            <a:br/>
            <a:r>
              <a:t>ghe-backup / ghe-restore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5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Air-Gapped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608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Fully offline operation</a:t>
            </a:r>
            <a:br/>
            <a:r>
              <a:t>No internet dependency</a:t>
            </a:r>
            <a:br/>
            <a:r>
              <a:t>Secure regulated envs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1089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1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Full Platform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5153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Actions, Packages, Security</a:t>
            </a:r>
            <a:br/>
            <a:r>
              <a:t>Identical to GHEC features</a:t>
            </a:r>
            <a:br/>
            <a:r>
              <a:t>Self-managed control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76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Version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69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GHES 3.8+ for GEI</a:t>
            </a:r>
            <a:br/>
            <a:r>
              <a:t>3.17+ built-in backup svc</a:t>
            </a:r>
            <a:br/>
            <a:r>
              <a:t>Regular update cadence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C: Azure Resilience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Geo-redundant storage for backups, snapshots, and archival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GRS — Geo-Redundant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Primary → Paired region replication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6 copies of data (3 local + 3 remote)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Automatic async replication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Manual failover to 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Cost-effective for most workloads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GZRS — Geo-Zone-Redundant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Zone redundancy + geo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Highest durability (16 nines)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Survives zone AND region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RA-GZRS for read access in secondary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Recommended for critical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698480" cy="14630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What to Store in Azure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  <a:latin typeface="Segoe UI"/>
              </a:defRPr>
            </a:pPr>
            <a:r>
              <a:t>GHES backup snapshots  •  Git mirror archives (.zip)  •  Metadata API exports (JSON)  •  LFS objects  •  Release artifacts  •  Secrets vault backups  •  Audit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Layer D: Customer Local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Air-gapped operations for maximum control and cloud independence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3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Air-Gapped GHES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35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Fully isolated from internet. Ideal for classified, regulated, or high-security environments where cloud connectivity is restricted.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19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Offline Backup 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24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Encrypted backups stored on local NAS, SAN, or tape. Ensures data availability even during complete cloud platform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08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Controlled Secure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12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Physical security, access controls, and audit trails under your organization's direct management. Full chain of custody.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96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Cloud-Independent Continuity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01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Development, code review, and CI/CD can continue on-premises during extended GitHub.com or Azure outages.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GHES → GHEC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Using GitHub Enterprise Importer (GEI)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Migration Overview — GHES to GHEC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GitHub Enterprise Importer: the official, self-serve migration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82880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Inventory repos, teams,</a:t>
            </a:r>
            <a:br/>
            <a:r>
              <a:t>stakeholders. Identify</a:t>
            </a:r>
            <a:br/>
            <a:r>
              <a:t>scope &amp; dependencies.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Run trial migrations</a:t>
            </a:r>
            <a:br/>
            <a:r>
              <a:t>to validate. Identify</a:t>
            </a:r>
            <a:br/>
            <a:r>
              <a:t>gaps &amp; blockers.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828800"/>
            <a:ext cx="548640" cy="54864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Migrate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Execute production</a:t>
            </a:r>
            <a:br/>
            <a:r>
              <a:t>migration. Pause</a:t>
            </a:r>
            <a:br/>
            <a:r>
              <a:t>work on repos.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1828800"/>
            <a:ext cx="548640" cy="54864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fidelity.</a:t>
            </a:r>
            <a:br/>
            <a:r>
              <a:t>Review logs. Fix</a:t>
            </a:r>
            <a:br/>
            <a:r>
              <a:t>warnings.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926080"/>
            <a:ext cx="228600" cy="381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645920"/>
            <a:ext cx="2103120" cy="2926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69880" y="1828800"/>
            <a:ext cx="548640" cy="54864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Cutover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0175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users. Re-enable</a:t>
            </a:r>
            <a:br/>
            <a:r>
              <a:t>rulesets, integrations.</a:t>
            </a:r>
            <a:br/>
            <a:r>
              <a:t>Resume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29A22"/>
                </a:solidFill>
              </a:defRPr>
            </a:pPr>
            <a:r>
              <a:t>⚡ Key: GEI does NOT support incremental/delta migration</a:t>
            </a:r>
          </a:p>
          <a:p>
            <a:pPr>
              <a:defRPr sz="1400">
                <a:solidFill>
                  <a:srgbClr val="E6EDF3"/>
                </a:solidFill>
              </a:defRPr>
            </a:pPr>
            <a:r>
              <a:t>Pause all work on repositories during production migration. Changes made during the process must be migrated manually.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Migrates with GEI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Understanding the scope of automated 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✅  Migrates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 source (all branches, tags, history)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Pull requests (with review comments)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Issues (with comments, labels, milestones)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Wikis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Releases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Repository settings (visibility, etc.)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Team &amp; permission associations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Branch protection rules → Rulesets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54480"/>
            <a:ext cx="5029200" cy="4663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🔧  Requires Manual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Webhooks &amp;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Actions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Deploy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GitHub Apps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Packages (container images, npm, etc.)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Discussions (partial support)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793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Large repositories &gt; 40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6268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Custom server-side hooks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GEI CLI — Commands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Step-by-step migration using the GitHub Enterprise Importer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1: Install the GEI CLI Extension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5486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extension install github/gh-gei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2: Generate Migration 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generate-script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--output migrate.ps1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Step 3: Execute Single Repo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515600" cy="91440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 gei migrate-repo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--source-repo SOURCE_REPO --target-repo TARGET_REPO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--github-source-org SOURCE_ORG --github-target-org TARGET_ORG 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  --ghes-api-url https://ghes.yourcompany.com/api/v3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Segoe UI"/>
              </a:defRPr>
            </a:pPr>
            <a:r>
              <a:t>Prerequisites: GHES 3.8+  •  org owner on source &amp; target  •  Add 'Repository migrations' to ruleset bypass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9D353"/>
                </a:solidFill>
                <a:latin typeface="Segoe UI"/>
              </a:defRPr>
            </a:pPr>
            <a: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HA Replica &amp; Geo-Replication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Active/Passive Failover for Zero-Downtime Resilience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GHES High Availability: Active / Passive Replica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A redundant appliance ready to take over if the primary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8A6FF"/>
                </a:solidFill>
                <a:latin typeface="Segoe UI"/>
              </a:defRPr>
            </a:pPr>
            <a:r>
              <a:t>🟢  PRIMARY APPLIANCE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Segoe UI"/>
              </a:defRPr>
            </a:pPr>
            <a:r>
              <a:t>Active — Serves all user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Handles all reads &amp; 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363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Runs all application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38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Git, MySQL, Redis, Elasticsearch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39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Actions, Packages, Security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41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Source of truth for all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743200"/>
            <a:ext cx="1554480" cy="16459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9D353"/>
                </a:solidFill>
              </a:defRPr>
            </a:pPr>
            <a:r>
              <a:t>Async Replication</a:t>
            </a:r>
          </a:p>
          <a:p>
            <a:pPr algn="ctr">
              <a:defRPr sz="1400">
                <a:solidFill>
                  <a:srgbClr val="39D353"/>
                </a:solidFill>
              </a:defRPr>
            </a:pPr>
            <a:r>
              <a:t>──────➜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Git repos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MySQL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Redis</a:t>
            </a:r>
          </a:p>
          <a:p>
            <a:pPr algn="ctr">
              <a:defRPr sz="1100">
                <a:solidFill>
                  <a:srgbClr val="8B949E"/>
                </a:solidFill>
              </a:defRPr>
            </a:pPr>
            <a:r>
              <a:t>Elasticsearch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645920"/>
            <a:ext cx="438912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29A22"/>
                </a:solidFill>
                <a:latin typeface="Segoe UI"/>
              </a:defRPr>
            </a:pPr>
            <a:r>
              <a:t>🟡  REPLICA APPLIANCE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86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29A22"/>
                </a:solidFill>
                <a:latin typeface="Segoe UI"/>
              </a:defRPr>
            </a:pPr>
            <a:r>
              <a:t>Passive — Standby, ready for failover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346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Mirrors all datastores (read-only)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1363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Separate failure domain (region/zone)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381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Matching CPU, RAM, storage specs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398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Encrypted VPN tunnel to primary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41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•  Promotable to primary via CLI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069848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5149"/>
                </a:solidFill>
              </a:defRPr>
            </a:pPr>
            <a:r>
              <a:t>⚠️  HA ≠ Backup — Corruption and deletions replicate instantly. Always maintain separate backups alongside HA.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Creating the HA Replica Appliance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Step-by-step setup from docs.github.com (GHES 3.20)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59004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88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Deploy Replica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88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Set up a new GHES appliance matching the primary's CPU, RAM, and storage.</a:t>
            </a:r>
            <a:br/>
            <a:r>
              <a:t>Use an independent environment — separate region or availability zone.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550160"/>
            <a:ext cx="411480" cy="4114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48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Network &amp; License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485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Open ports 122/TCP and 1194/UDP between appliances.</a:t>
            </a:r>
            <a:br/>
            <a:r>
              <a:t>Upload your GitHub Enterprise license. Set matching admin password.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510280"/>
            <a:ext cx="411480" cy="41148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0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Initialize Replica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08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In the Management Console, click 'Create a replica node'.</a:t>
            </a:r>
            <a:br/>
            <a:r>
              <a:t>Add your SSH key for admin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470400"/>
            <a:ext cx="411480" cy="411480"/>
          </a:xfrm>
          <a:prstGeom prst="ellipse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68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9D353"/>
                </a:solidFill>
                <a:latin typeface="Segoe UI"/>
              </a:defRPr>
            </a:pPr>
            <a:r>
              <a:t>Start Replication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688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SSH to replica (port 122) → run ghe-repl-setup PRIMARY_IP</a:t>
            </a:r>
            <a:br/>
            <a:r>
              <a:t>→ ghe-config-apply → ghe-repl-start to begin syncing all datastores.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5430520"/>
            <a:ext cx="411480" cy="41148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32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C8CFF"/>
                </a:solidFill>
                <a:latin typeface="Segoe UI"/>
              </a:defRPr>
            </a:pPr>
            <a:r>
              <a:t>Verify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328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Run ghe-repl-status to confirm Git, MySQL, Redis, and Elasticsearch</a:t>
            </a:r>
            <a:br/>
            <a:r>
              <a:t>channels are all replicating successfully.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53"/>
                </a:solidFill>
                <a:latin typeface="Segoe UI"/>
              </a:defRPr>
            </a:pPr>
            <a:r>
              <a:t>Key CLI Commands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6263640"/>
            <a:ext cx="10515600" cy="50292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ssh -p 122 admin@REPLICA_IP  →  ghe-repl-setup PRIMARY_IP  →  ghe-config-apply  →  ghe-repl-start  →  ghe-repl-status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Geo-Replication &amp; Failover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Multi-region active replicas + failover procedures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9D353"/>
                </a:solidFill>
                <a:latin typeface="Segoe UI"/>
              </a:defRPr>
            </a:pPr>
            <a:r>
              <a:t>🌍  Geo-Replication (Active Replicas)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Up to 8 replicas (HA + geo + cache)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Active replicas serve local read 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Writes always forwarded to 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Latency must be &lt; 70ms to 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Geo-aware DNS routes users to nearest replica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Each replica in separate datacenter / 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ghe-repl-node --datacenter DC_NAME --active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34747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5149"/>
                </a:solidFill>
                <a:latin typeface="Segoe UI"/>
              </a:defRPr>
            </a:pPr>
            <a:r>
              <a:t>🔄  Failover 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1.  Detect primary failure (monitoring/alerts)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2.  SSH to replica appliance (port 122)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3.  Run ghe-repl-promote to promote replica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4.  Update DNS to point to new primary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5.  Re-establish redundancy with new 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maintenance: place primary in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mode first to prevent split-brain scenarios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03520"/>
            <a:ext cx="10698480" cy="1005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9D353"/>
                </a:solidFill>
                <a:latin typeface="Segoe UI"/>
              </a:defRPr>
            </a:pPr>
            <a:r>
              <a:t>Example Topology: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Primary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 East (DC1)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3FB95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Replica 1 (Active)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US West (DC2)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539496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D29A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Replica 2 (Active)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EU West (DC3)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Backup &amp; DR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4-Layer Defense-in-Depth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19/30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1: Git Mirror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Daily / Hourly — Complete repository history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Backup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515600" cy="12801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Clone full repository with all refs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clone --mirror https://github.com/ORG/REPO.git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Fetch all LFS objects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lfs fetch --all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Archive for storage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zip -r REPO-backup-$(date +%Y%m%d).zip REPO.git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Restore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515600" cy="100584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Unzip and push to new remote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unzip REPO-backup.zip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cd REPO.git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remote add origin NEW_URL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git push --mirror origin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Storage Targets: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3492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Azure Blob (LRS/GRS/GZRS)  •  On-premises NAS  •  Encrypted offline vault</a:t>
            </a:r>
            <a:br/>
            <a:r>
              <a:t>Schedule: Hourly for active repos, Daily for all repos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20/30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2: Metadata Backups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Weekly — API-driven export of collaboration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5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Issues &amp; 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05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Full issue history, labels, assignees, milestones, and all comment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5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/repos/{owner}/{repo}/issues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92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Pull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92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 metadata, review comments, status checks, merge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468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/repos/{owner}/{repo}/pulls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80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Releases &amp;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80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Release notes, assets, semantic versioning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34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/repos/{owner}/{repo}/releases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17136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67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Projects &amp; 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567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Project boards, cards, columns, automation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8219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GraphQL: projectsV2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04688"/>
            <a:ext cx="10515600" cy="8686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5554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Actions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555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Workflow YAML files, run history, secrets (names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809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REST API: /repos/{owner}/{repo}/actions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A22"/>
                </a:solidFill>
                <a:latin typeface="Segoe UI"/>
              </a:defRPr>
            </a:pPr>
            <a:r>
              <a:t>⚠️  Migration archives do NOT include everything — treat metadata backups as augmentation to git mirror backups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21/30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3: GHES Backup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Full instance protection with github/backup-utils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Incremental snapshots (only changed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Online backups — zero 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Runs on separate dedicated backup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369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Supports air-gapped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Includes repos, issues, PRs, settings,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✓  Restores full GHES instance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  <a:latin typeface="Segoe UI"/>
              </a:defRPr>
            </a:pPr>
            <a:r>
              <a:t>Recommended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Daily Rolling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30 days of daily incremental snapshots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Monthly Full Snapshots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12 months of monthly full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Key Commands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515600" cy="82296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Create backup snapshot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ghe-backup -v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# Restore to GHES instance (maintenance mode required)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3FB950"/>
                </a:solidFill>
                <a:latin typeface="Cascadia Code"/>
              </a:defRPr>
            </a:pPr>
            <a:r>
              <a:t>ghe-restore -v SNAPSHOT_ID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22/30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Backup Layer 4: Azure Geo-Redundant DR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Cross-region redundancy for maximum data durability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A22"/>
                </a:solidFill>
                <a:latin typeface="Segoe UI"/>
              </a:defRPr>
            </a:pPr>
            <a:r>
              <a:t>Recommended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🏢  Primary Region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Git mirror archives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Metadata JSON exports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GHES backup snapshots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LFS objects &amp; release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Audit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8346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29A22"/>
                </a:solidFill>
              </a:defRPr>
            </a:pPr>
            <a:r>
              <a:t>GRS/GZRS</a:t>
            </a:r>
          </a:p>
          <a:p>
            <a:pPr algn="ctr">
              <a:defRPr sz="1400">
                <a:solidFill>
                  <a:srgbClr val="8B949E"/>
                </a:solidFill>
              </a:defRPr>
            </a:pPr>
            <a:r>
              <a:t>Async 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10312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240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🌍  Paired Region (DR)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Automatic replication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Read access (RA-GZRS)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91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Manual failover 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Same data, different geography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•  Lifecycle auto-tiering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💰  Storage Lifecycle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Hot tier (0-30 days) → Cool tier (30-90 days) → Archive tier (90+ days)   |   Reduces long-term storage costs by up to 80%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23/30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5149"/>
                </a:solidFill>
                <a:latin typeface="Segoe U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Outage Response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3 Scenarios — GitHub.com, Azure Region, Data Corruption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81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24/30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A: GitHub.com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Steps to maintain operations during platform unavailability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Switch Builds to Local Clones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Redirect CI/CD pipelines to use locally cached repository clones. Developers continue working with their local copies.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Freeze High-Risk Deployments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Halt production deployments that depend on GitHub for approval workflows, status checks, or artifact retrieval.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Use Mirrored Repos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Leverage previously mirrored repositories for read-only code review, auditing, and reference. Continue development locally.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5149"/>
                </a:solidFill>
                <a:latin typeface="Segoe UI"/>
              </a:defRPr>
            </a:pPr>
            <a:r>
              <a:t>Failover to GHES (Optional)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extended outage, route all operations to air-gapped GHES instance. Provides full Git, CI, and collaboration capabilities.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25/30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B: Azure Region Outage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Leveraging geo-redundancy for cross-region failover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Confirm GRS/GZRS Replication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that Azure Storage geo-replication is healthy and data has been replicated to the paired region.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Failover to Secondary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primary region is unavailable, initiate manual failover via Azure Portal or CLI: az storage account failover.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Restore GHES from Snapshots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If using GHES, restore the latest backup snapshot from Azure Storage in the secondary region using ghe-restore.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Validate &amp; Resume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Verify data integrity, test access to restored repositories, and resume normal development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26/30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Scenario C: Corruption / Accidental Deletion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Recovery from data loss using layered backup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7322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5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Segoe UI"/>
              </a:defRPr>
            </a:pPr>
            <a:r>
              <a:t>Recover via Mirror Backups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8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Restore repository from the latest git mirror backup. Push --mirror to a new or existing remote to restore full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2921000"/>
            <a:ext cx="457200" cy="457200"/>
          </a:xfrm>
          <a:prstGeom prst="ellipse">
            <a:avLst/>
          </a:prstGeom>
          <a:solidFill>
            <a:srgbClr val="D29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94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29A22"/>
                </a:solidFill>
                <a:latin typeface="Segoe UI"/>
              </a:defRPr>
            </a:pPr>
            <a:r>
              <a:t>Re-import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7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Use archived metadata JSON exports to recreate issues, PRs, labels, milestones, and project boards via the GitHub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109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982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GHES Full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6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complete instance recovery, use ghe-restore with the latest GHES snapshot. Restores the entire platform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298440"/>
            <a:ext cx="457200" cy="45720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71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BC8CFF"/>
                </a:solidFill>
                <a:latin typeface="Segoe UI"/>
              </a:defRPr>
            </a:pPr>
            <a:r>
              <a:t>GitHub Import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450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targeted recovery, use GitHub's import API or Enterprise Importer to selectively restore specific repositories.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27/30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Failure Scenario Coverage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Every failure mode is covered by at least one resilience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114800" cy="548640"/>
          </a:xfrm>
          <a:prstGeom prst="roundRect">
            <a:avLst>
              <a:gd name="adj" fmla="val 4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Failure Scenario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508760"/>
            <a:ext cx="6492240" cy="548640"/>
          </a:xfrm>
          <a:prstGeom prst="roundRect">
            <a:avLst>
              <a:gd name="adj" fmla="val 4000"/>
            </a:avLst>
          </a:prstGeom>
          <a:solidFill>
            <a:srgbClr val="58A6FF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Covered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5149"/>
                </a:solidFill>
              </a:defRPr>
            </a:pPr>
            <a:r>
              <a:t>GitHub.com Outage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148840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running locally + Azure backup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99232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29A22"/>
                </a:solidFill>
              </a:defRPr>
            </a:pPr>
            <a:r>
              <a:t>Azure Regional Outage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2999232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air-gapped instance running on-premises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9624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58A6FF"/>
                </a:solidFill>
              </a:defRPr>
            </a:pPr>
            <a:r>
              <a:t>Local Network Outage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3849624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Azure-hosted GRS replicas accessible remotely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0016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C8CFF"/>
                </a:solidFill>
              </a:defRPr>
            </a:pPr>
            <a:r>
              <a:t>Repository Corruption /</a:t>
            </a:r>
            <a:br/>
            <a:r>
              <a:t>Accidental Deletion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4700016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Git mirror backups + GHES backup snapshots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50408"/>
            <a:ext cx="411480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9D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9D353"/>
                </a:solidFill>
              </a:defRPr>
            </a:pPr>
            <a:r>
              <a:t>Compliance / Audit</a:t>
            </a:r>
            <a:br/>
            <a:r>
              <a:t>Requirements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5550408"/>
            <a:ext cx="6492240" cy="77724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E6EDF3"/>
                </a:solidFill>
              </a:defRPr>
            </a:pPr>
            <a:r>
              <a:t>✅  GHES air-gapped + encrypted Azure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FB950"/>
                </a:solidFill>
                <a:latin typeface="Segoe UI"/>
              </a:defRPr>
            </a:pPr>
            <a:r>
              <a:t>This gives you multi-cloud, multi-region, multi-environment resilience.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28/30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GHES + Azure GRS —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The right strategy for highly regulated organizations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Full Operational</a:t>
            </a:r>
            <a:br/>
            <a:r>
              <a:t>Independence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Complete independence from GitHub.com.</a:t>
            </a:r>
            <a:br/>
            <a:r>
              <a:t>Your GHES instance operates autonomously</a:t>
            </a:r>
            <a:br/>
            <a:r>
              <a:t>with no dependency on external SaaS</a:t>
            </a:r>
            <a:br/>
            <a:r>
              <a:t>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Local</a:t>
            </a:r>
            <a:br/>
            <a:r>
              <a:t>Survivability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GHES runs in your network. If cloud</a:t>
            </a:r>
            <a:br/>
            <a:r>
              <a:t>providers go down, your teams continue</a:t>
            </a:r>
            <a:br/>
            <a:r>
              <a:t>developing, reviewing, and deploying</a:t>
            </a:r>
            <a:br/>
            <a:r>
              <a:t>without interruption.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29A22"/>
                </a:solidFill>
                <a:latin typeface="Segoe UI"/>
              </a:defRPr>
            </a:pPr>
            <a:r>
              <a:t>Cloud-Based</a:t>
            </a:r>
            <a:br/>
            <a:r>
              <a:t>Durability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Azure GRS/GZRS provides geo-redundant</a:t>
            </a:r>
            <a:br/>
            <a:r>
              <a:t>storage with 16 nines of durability.</a:t>
            </a:r>
            <a:br/>
            <a:r>
              <a:t>Cross-region replication ensures backups</a:t>
            </a:r>
            <a:br/>
            <a:r>
              <a:t>survive regional failures.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691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6EDF3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24028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C8CFF"/>
                </a:solidFill>
                <a:latin typeface="Segoe UI"/>
              </a:defRPr>
            </a:pPr>
            <a:r>
              <a:t>Air-Gapped</a:t>
            </a:r>
            <a:br/>
            <a:r>
              <a:t>Fallback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971800"/>
            <a:ext cx="2423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For the most critical scenarios, an</a:t>
            </a:r>
            <a:br/>
            <a:r>
              <a:t>air-gapped GHES instance with encrypted</a:t>
            </a:r>
            <a:br/>
            <a:r>
              <a:t>offline storage provides the ultimate</a:t>
            </a:r>
            <a:br/>
            <a:r>
              <a:t>safety 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A combined GHES + Azure GRS strategy delivers multi-cloud, multi-region, multi-environment resilience</a:t>
            </a:r>
          </a:p>
          <a:p>
            <a:pPr algn="ctr">
              <a:defRPr sz="1600">
                <a:solidFill>
                  <a:srgbClr val="E6EDF3"/>
                </a:solidFill>
              </a:defRPr>
            </a:pPr>
            <a:r>
              <a:t>— exactly what highly regulated organizations should adopt.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29/30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Responsibilities, Documentation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9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Your DevOps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4935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Execute mirror backups, manage GHES snapshots &amp; replicas, run recovery procedures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16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Your Security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1648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Validate air-gapped controls, manage encryption keys, enforce retention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0515600" cy="7315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9050">
            <a:solidFill>
              <a:srgbClr val="D29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39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A22"/>
                </a:solidFill>
                <a:latin typeface="Segoe UI"/>
              </a:defRPr>
            </a:pPr>
            <a:r>
              <a:t>GitHub / Microsoft 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394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Segoe UI"/>
              </a:defRPr>
            </a:pPr>
            <a:r>
              <a:t>Architecture design, migration assistance, escalation handling,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📚  Official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43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Git Mirror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43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docs.github.com/.../backing-up-a-repository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9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GitHub Backup Utilities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994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github.com/github/backup-utils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554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GHES HA Replica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855464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docs.github.com/.../creating-a-high-availability-replica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114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GHES Geo-Replication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11149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docs.github.com/.../about-geo-replication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675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Azure GRS/GZRS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6752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scadia Code"/>
              </a:defRPr>
            </a:pPr>
            <a:r>
              <a:t>learn.microsoft.com/.../storage-redundancy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🚀  Recommended Next Steps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989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1.  Run trial GEI migration with 2-3 repos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217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2.  Deploy HA replica in separate AZ/region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3.  Implement automated git mirror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89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4.  Configure Azure GRS/GZRS + lifecycle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217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5.  Conduct tabletop exercise for each outage scenario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B949E"/>
                </a:solidFill>
                <a:latin typeface="Segoe UI"/>
              </a:defRPr>
            </a:pPr>
            <a:r>
              <a:rPr sz="900">
                <a:solidFill>
                  <a:srgbClr val="B0B0B0"/>
                </a:solidFill>
              </a:rPr>
              <a:t>30/30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Operational Reality: Setup vs. Ongoing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B0"/>
                </a:solidFill>
              </a:defRPr>
            </a:pPr>
            <a:r>
              <a:t>What your team actually needs to do (spoiler: very little after Day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023360" cy="3291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3FB950"/>
                </a:solidFill>
              </a:defRPr>
            </a:pPr>
            <a:r>
              <a:t>ONE-TIME SETUP (Day 1 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0E68C"/>
                </a:solidFill>
              </a:defRPr>
            </a:pPr>
            <a:r>
              <a:t>ghe-repl-setup PRIMARY_IP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Register replica with primary (~5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5000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0E68C"/>
                </a:solidFill>
              </a:defRPr>
            </a:pPr>
            <a:r>
              <a:t>ghe-config-apply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Apply configuration to replica (~10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25495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0E68C"/>
                </a:solidFill>
              </a:defRPr>
            </a:pPr>
            <a:r>
              <a:t>ghe-repl-start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Start continuous replication (~5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0098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0E68C"/>
                </a:solidFill>
              </a:defRPr>
            </a:pPr>
            <a:r>
              <a:t>Open ports 122/TCP + 1194/UDP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Firewall rule -- set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7647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0E68C"/>
                </a:solidFill>
              </a:defRPr>
            </a:pPr>
            <a:r>
              <a:t>Upload license &amp; set admin password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Management Console -- set once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4023360" cy="3291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58A6FF"/>
                </a:solidFill>
              </a:defRPr>
            </a:pPr>
            <a:r>
              <a:t>ONGOING (Automatic / Minimal)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74519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Replication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Continuous &amp; automatic. Every git push, issue, PR syncs in seconds to minutes. Zero manual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441447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Monitoring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Run ghe-repl-status weekly. Confirms Git, MySQL, Redis, Elasticsearch are healthy.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008375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Failover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Only if primary fails: ghe-repl-promote. Manual, deliberate action -- not routine.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575303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</a:defRPr>
            </a:pPr>
            <a:r>
              <a:t>GHES Upgrades</a:t>
            </a:r>
          </a:p>
          <a:p>
            <a:pPr>
              <a:spcAft>
                <a:spcPts val="200"/>
              </a:spcAft>
              <a:defRPr sz="900">
                <a:solidFill>
                  <a:srgbClr val="B0B0B0"/>
                </a:solidFill>
              </a:defRPr>
            </a:pPr>
            <a:r>
              <a:t>Apply to primary first, then replica. Same cadence as any server patching.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54880"/>
            <a:ext cx="8412480" cy="640080"/>
          </a:xfrm>
          <a:prstGeom prst="roundRect">
            <a:avLst/>
          </a:prstGeom>
          <a:solidFill>
            <a:srgbClr val="0D411C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2803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BOTTOM LINE: After a ~20-minute initial setup, replication is fully automatic. Your team's only ongoing task is periodic ghe-repl-status checks. Zero impact on developer workflows -- they push to GitHub as normal.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126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0B0B0"/>
                </a:solidFill>
              </a:defRPr>
            </a:pPr>
            <a:r>
              <a:rPr sz="900">
                <a:solidFill>
                  <a:srgbClr val="B0B0B0"/>
                </a:solidFill>
              </a:rPr>
              <a:t>17/30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6126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B0B0B0"/>
                </a:solidFill>
              </a:defRPr>
            </a:pPr>
            <a:r>
              <a:t>Source: docs.github.com (GHES 3.20)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Resource &amp; Cost Impact of HA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B0B0B0"/>
                </a:solidFill>
              </a:defRPr>
            </a:pPr>
            <a:r>
              <a:t>What you need to provision, what it costs, and what it does NOT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0883E"/>
                </a:solidFill>
              </a:defRPr>
            </a:pPr>
            <a:r>
              <a:t>Hardware Requirements (Replica must match Primary)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5852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834640"/>
                <a:gridCol w="1645920"/>
              </a:tblGrid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Example (3K users)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Match primary exactly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8 vCPUs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Match primary (6.5 GB/vCPU)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64 GB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Match primary (SSD recommended)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300 GB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Network Link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Dedicated, low-latency, &lt;70ms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1 Gbps+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Ports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122/TCP (SSH) + 1194/UDP (VPN)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Firewall rules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Max Replicas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Up to 8 (HA + geo combined)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B0B0B0"/>
                          </a:solidFill>
                        </a:defRPr>
                      </a:pPr>
                      <a:r>
                        <a:t>Typically 1-2</a:t>
                      </a:r>
                    </a:p>
                  </a:txBody>
                  <a:tcPr>
                    <a:solidFill>
                      <a:srgbClr val="1A1F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234440"/>
            <a:ext cx="2468880" cy="2468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258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3FB950"/>
                </a:solidFill>
              </a:defRPr>
            </a:pPr>
            <a:r>
              <a:t>Impact on GitHub.com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3FB950"/>
                </a:solidFill>
              </a:defRPr>
            </a:pPr>
            <a:r>
              <a:t>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Developer workflows: unaffected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Git push/pull speed: unaffected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CI/CD pipelines: unaffected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GitHub.com performance: unaffected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2004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FFFFFF"/>
                </a:solidFill>
              </a:defRPr>
            </a:pPr>
            <a:r>
              <a:t>HA replication runs entirely within YOUR infrastructure -- not on GitHub.com.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86200"/>
            <a:ext cx="4389120" cy="1828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BC8CFF"/>
                </a:solidFill>
              </a:defRPr>
            </a:pPr>
            <a:r>
              <a:t>Bandwidth &amp; Network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4114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Encrypted WireGuard VPN tunnel (efficient, secure)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Initial sync: full data transfer -- schedule off-hours if large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Steady state: incremental deltas only -- minimal overhead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Bandwidth proportional to activity, not a fixed cost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Typical 1K-developer org: ~2-10 GB/day of changes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B0B0B0"/>
                </a:solidFill>
              </a:defRPr>
            </a:pPr>
            <a:r>
              <a:t>  No additional GitHub licensing cost for replicas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886200"/>
            <a:ext cx="3840480" cy="1828800"/>
          </a:xfrm>
          <a:prstGeom prst="roundRect">
            <a:avLst/>
          </a:prstGeom>
          <a:solidFill>
            <a:srgbClr val="3D1A0D"/>
          </a:solidFill>
          <a:ln w="19050">
            <a:solidFill>
              <a:srgbClr val="F855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9776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5549"/>
                </a:solidFill>
              </a:defRPr>
            </a:pPr>
            <a:r>
              <a:t>HA Replication != Backup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3434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FFCCBB"/>
                </a:solidFill>
              </a:defRPr>
            </a:pPr>
            <a:r>
              <a:t>  Deleted/corrupted data replicates INSTANTLY to replica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CCBB"/>
                </a:solidFill>
              </a:defRPr>
            </a:pPr>
            <a:r>
              <a:t>  HA protects against HARDWARE failure only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CCBB"/>
                </a:solidFill>
              </a:defRPr>
            </a:pPr>
            <a:r>
              <a:t>  You STILL need ghe-backup for point-in-time recovery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CCBB"/>
                </a:solidFill>
              </a:defRPr>
            </a:pPr>
            <a:r>
              <a:t>  Best practice: HA for uptime + Backups for data safety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CCBB"/>
                </a:solidFill>
              </a:defRPr>
            </a:pPr>
            <a:r>
              <a:t>  Together = complete protection against ALL failure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26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  <a:defRPr sz="900" b="0">
                <a:solidFill>
                  <a:srgbClr val="B0B0B0"/>
                </a:solidFill>
              </a:defRPr>
            </a:pPr>
            <a:r>
              <a:rPr sz="900">
                <a:solidFill>
                  <a:srgbClr val="B0B0B0"/>
                </a:solidFill>
              </a:rPr>
              <a:t>18/30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1264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  <a:defRPr sz="800" b="0">
                <a:solidFill>
                  <a:srgbClr val="B0B0B0"/>
                </a:solidFill>
              </a:defRPr>
            </a:pPr>
            <a:r>
              <a:t>Source: docs.github.com (GHES 3.20)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