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18B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Mixed Runner Fleet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7DE"/>
                </a:solidFill>
                <a:latin typeface="Segoe UI"/>
              </a:defRPr>
            </a:pPr>
            <a:r>
              <a:t>One workflow, multiple execution targets — no forced "all in cloud"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🏢   On-Prem Runners → Sensitive &amp; Legacy Workloads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☸️   AKS Runners → Elastic, Data-Heavy, AI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☁️   GitHub-Hosted Runners → Bursty, Low-Data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D7DE"/>
                </a:solidFill>
                <a:latin typeface="Segoe UI"/>
              </a:defRPr>
            </a:pPr>
            <a:r>
              <a:t>Best Practices  •  Decision Framework  •  Documentation Links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a Mixed Runner Fleet?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0D7DE"/>
                </a:solidFill>
                <a:latin typeface="Segoe UI"/>
              </a:defRPr>
            </a:pPr>
            <a:r>
              <a:t>No single runner type fits every workload. A mixed fleet gives you the right balance of security, performance, cost, and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18288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54864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8BFF"/>
                </a:solidFill>
                <a:latin typeface="Segoe UI"/>
              </a:defRPr>
            </a:pPr>
            <a:r>
              <a:t>🔒  Compliance &amp; Data Sovereignty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Regulated industries need on-prem execution with full audit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920240"/>
            <a:ext cx="3474720" cy="18288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474720" cy="54864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057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📈  Elastic Scale for AI/ML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9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GPU-intensive and data-heavy jobs need Kubernetes-grade autoscaling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474720" cy="18288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47472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57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💰  Cost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Use GitHub-hosted for commodity CI; reserve premium infra for what needs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474720" cy="18288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474720" cy="54864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83E"/>
                </a:solidFill>
                <a:latin typeface="Segoe UI"/>
              </a:defRPr>
            </a:pPr>
            <a:r>
              <a:t>⚡  Performance at Every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Match runner hardware to workload requirements — not one size fits 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114800"/>
            <a:ext cx="3474720" cy="18288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59" y="4114800"/>
            <a:ext cx="3474720" cy="54864"/>
          </a:xfrm>
          <a:prstGeom prst="roundRect">
            <a:avLst/>
          </a:prstGeom>
          <a:solidFill>
            <a:srgbClr val="1B7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7F8B"/>
                </a:solidFill>
                <a:latin typeface="Segoe UI"/>
              </a:defRPr>
            </a:pPr>
            <a:r>
              <a:t>🔗  No Vendor Lock-in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599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Incrementally adopt cloud runners without rewriting existing pipelines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114800"/>
            <a:ext cx="3474720" cy="18288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474720" cy="54864"/>
          </a:xfrm>
          <a:prstGeom prst="roundRect">
            <a:avLst/>
          </a:prstGeom>
          <a:solidFill>
            <a:srgbClr val="F85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5349"/>
                </a:solidFill>
                <a:latin typeface="Segoe UI"/>
              </a:defRPr>
            </a:pPr>
            <a:r>
              <a:t>🛡️  Defense in 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Isolate sensitive workloads from general-purpose runners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Three Runner Types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484632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54864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83E"/>
                </a:solidFill>
                <a:latin typeface="Segoe UI"/>
              </a:defRPr>
            </a:pPr>
            <a:r>
              <a:t>🏢  On-Prem Self-Hosted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Full hardware/OS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Access private networks &amp; DBs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Data never leaves your 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Compliance &amp; audit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You manage patching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Best for: legacy, regulated, sensitive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66160" cy="484632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56616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☸️  AKS (Kubernetes) Runners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Auto-scale via Actions Runner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Scale-to-zero when idle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GPU/high-memory node pools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Azure Files for persistent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Cloud-native, container-isolated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Best for: AI/ML, data pipelines, elastic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566160" cy="54864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8BFF"/>
                </a:solidFill>
                <a:latin typeface="Segoe UI"/>
              </a:defRPr>
            </a:pPr>
            <a:r>
              <a:t>☁️  GitHub-Hosted Runners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Zero infrastructure to manage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Always patched &amp; ephemeral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Pre-installed tool ecosystem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Linux, Windows, macOS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Private VNet integration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Best for: standard CI/CD, OSS, bursty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🧭  Decision Framework: When to Use What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704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On-Prem Runners</a:t>
                      </a:r>
                    </a:p>
                  </a:txBody>
                  <a:tcPr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AKS Runners</a:t>
                      </a:r>
                    </a:p>
                  </a:txBody>
                  <a:tcPr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GitHub-Hosted</a:t>
                      </a:r>
                    </a:p>
                  </a:txBody>
                  <a:tcPr>
                    <a:solidFill>
                      <a:srgbClr val="30363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Sensitivity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Highest — data stays on-prem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Cloud but your tenant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GitHub infrastructure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Compliance (SOX/HIPAA)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Full control &amp; audit trail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Azure compliance controls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🟠 Limited customization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Scale Elasticity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🟠 Fixed capacity, manual scale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Auto-scale, scale-to-zero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Instant, fully managed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GPU / Specialized HW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Custom hardware OK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GPU node pools in AKS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🟠 Limited GPU options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Setup &amp; Maintenance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🟠 You own everything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Helm + ARC management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Zero maintenance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Cost Model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CapEx + operational cost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Pay-per-use AKS nodes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Per-minute billing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Network Access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Full internal network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Azure VNet peering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Private VNet (newer)</a:t>
                      </a:r>
                    </a:p>
                  </a:txBody>
                  <a:tcPr>
                    <a:solidFill>
                      <a:srgbClr val="1F232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Legacy App Support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🟢 Run anything on bare metal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🟡 Container-compatible only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0D7DE"/>
                          </a:solidFill>
                          <a:latin typeface="Segoe UI"/>
                        </a:defRPr>
                      </a:pPr>
                      <a:r>
                        <a:t>🟠 Standard images only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FB950"/>
                </a:solidFill>
                <a:latin typeface="Segoe UI"/>
              </a:defRPr>
            </a:pPr>
            <a:r>
              <a:t>✅  Best Practice Guide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486400" cy="237744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54864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8BFF"/>
                </a:solidFill>
                <a:latin typeface="Segoe UI"/>
              </a:defRPr>
            </a:pPr>
            <a:r>
              <a:t>1. Label-Based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Use runner labels (runs-on: [self-hosted, gpu]) to target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Create label taxonomy: environment, capability, sensitivity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One workflow file can route jobs to different runner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188720"/>
            <a:ext cx="5486400" cy="237744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59" y="1188720"/>
            <a:ext cx="5486400" cy="54864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83E"/>
                </a:solidFill>
                <a:latin typeface="Segoe UI"/>
              </a:defRPr>
            </a:pPr>
            <a:r>
              <a:t>2. Security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99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Never use self-hosted runners on public repositories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Isolate sensitive runners in dedicated runner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2423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Use GitHub App auth over PATs for runner registration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5486400" cy="237744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486400" cy="54864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3. Scale &amp; Cost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AKS: scale-to-zero with ARC for idle cost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GitHub-hosted: use for bursty/short-lived commodity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On-prem: reserve for workloads that MUST stay local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931920"/>
            <a:ext cx="5486400" cy="237744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59" y="3931920"/>
            <a:ext cx="54864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4. Ops &amp;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399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Automate runner patching (OS + runner binary)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399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Use ephemeral runners where possible (--ephemeral flag)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399" y="5166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Monitor queue times to detect capacity bottlenecks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Architecture: One Workflow → Multiple Targets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371600"/>
            <a:ext cx="3931920" cy="914400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GitHub Actions Workflow (.yml)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657600"/>
            <a:ext cx="3474720" cy="201168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3474720" cy="54864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83E"/>
                </a:solidFill>
                <a:latin typeface="Segoe UI"/>
              </a:defRPr>
            </a:pPr>
            <a:r>
              <a:t>🏢 On-Prem Runner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runs-on: [self-hosted, onprem]</a:t>
            </a:r>
            <a:br/>
            <a:r>
              <a:t>Sensitive builds, legacy apps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474720" cy="201168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3657600"/>
            <a:ext cx="347472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☸️ AKS Runner (ARC)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519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runs-on: [self-hosted, aks-gpu]</a:t>
            </a:r>
            <a:br/>
            <a:r>
              <a:t>AI/ML training, data pipelines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657600"/>
            <a:ext cx="3474720" cy="201168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3657600"/>
            <a:ext cx="3474720" cy="54864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94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8BFF"/>
                </a:solidFill>
                <a:latin typeface="Segoe UI"/>
              </a:defRPr>
            </a:pPr>
            <a:r>
              <a:t>☁️ GitHub-Hosted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2519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runs-on: ubuntu-latest</a:t>
            </a:r>
            <a:br/>
            <a:r>
              <a:t>Unit tests, linting, packaging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194560" y="2377440"/>
            <a:ext cx="457200" cy="1097280"/>
          </a:xfrm>
          <a:prstGeom prst="down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6080760" y="2377440"/>
            <a:ext cx="457200" cy="1097280"/>
          </a:xfrm>
          <a:prstGeom prst="down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0058400" y="2377440"/>
            <a:ext cx="457200" cy="1097280"/>
          </a:xfrm>
          <a:prstGeom prst="down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✅ No forced "all in cloud" decision  •  ✅ Incremental adoption  •  ✅ Right runner for the right job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📝  Sample Multi-Runner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0972800" cy="53035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FB950"/>
                </a:solidFill>
                <a:latin typeface="Cascadia Code"/>
              </a:defRPr>
            </a:pPr>
            <a:r>
              <a:t>name: mixed-runner-fleet</a:t>
            </a:r>
            <a:br/>
            <a:r>
              <a:t>on: [push]</a:t>
            </a:r>
            <a:br/>
            <a:br/>
            <a:r>
              <a:t>jobs:</a:t>
            </a:r>
            <a:br/>
            <a:r>
              <a:t>  lint-and-test:                    # ☁️ Bursty, commodity job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run: npm ci &amp;&amp; npm test</a:t>
            </a:r>
            <a:br/>
            <a:br/>
            <a:r>
              <a:t>  build-secure-artifact:            # 🏢 Sensitive / legacy workload</a:t>
            </a:r>
            <a:br/>
            <a:r>
              <a:t>    runs-on: [self-hosted, onprem, linux]</a:t>
            </a:r>
            <a:br/>
            <a:r>
              <a:t>    needs: lint-and-test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run: ./build.sh --sign --audit</a:t>
            </a:r>
            <a:br/>
            <a:br/>
            <a:r>
              <a:t>  train-ml-model:                   # ☸️ Elastic, GPU-heavy workload</a:t>
            </a:r>
            <a:br/>
            <a:r>
              <a:t>    runs-on: [self-hosted, aks, gpu]</a:t>
            </a:r>
            <a:br/>
            <a:r>
              <a:t>    needs: lint-and-test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run: python train.py --epochs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🔒  Security Best Practices by Runner 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54864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83E"/>
                </a:solidFill>
                <a:latin typeface="Segoe UI"/>
              </a:defRPr>
            </a:pPr>
            <a:r>
              <a:t>On-Prem Runners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Network segmentation — isolate runner subnet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Ephemeral mode (--ephemeral) when possible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Hardware-level security (TPM, Secure Boot)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Regular OS &amp; runner binary patching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CIS benchmark hardening for host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Comprehensive audit logging to SIEM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566160" cy="50292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56616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AKS Runners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Dedicated namespace with RBAC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Pod security standards (restricted profile)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Azure CNI for network policy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43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GitHub App auth (not PATs) for ARC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Image scanning in runner container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Azure Key Vault for secrets injection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188720"/>
            <a:ext cx="3566160" cy="54864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8BFF"/>
                </a:solidFill>
                <a:latin typeface="Segoe UI"/>
              </a:defRPr>
            </a:pPr>
            <a:r>
              <a:t>GitHub-Hosted Runners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Pin action versions to commit SHAs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Use OIDC for cloud credential exchange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Enable private VNet for internal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743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Limit GITHUB_TOKEN permissions (least-priv)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Review third-party actions before adoption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Use required workflows for policy gates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📚  Documentation &amp;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66160" cy="530352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4864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8BFF"/>
                </a:solidFill>
                <a:latin typeface="Segoe UI"/>
              </a:defRPr>
            </a:pPr>
            <a:r>
              <a:t>Core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GitHub Actions Runners Overview</a:t>
            </a:r>
            <a:br/>
            <a:r>
              <a:t>  → docs.github.com/en/actions/concepts/runners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Self-Hosted Runners Reference</a:t>
            </a:r>
            <a:br/>
            <a:r>
              <a:t>  → docs.github.com/actions/reference/runners/self-hosted-runners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GitHub-Hosted Runner Specs</a:t>
            </a:r>
            <a:br/>
            <a:r>
              <a:t>  → docs.github.com/en/actions/using-github-hosted-runners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Security Hardening for GitHub Actions</a:t>
            </a:r>
            <a:br/>
            <a:r>
              <a:t>  → docs.github.com/en/actions/security-guides/security-hardening-for-github-actions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97280"/>
            <a:ext cx="3566160" cy="530352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56616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AKS &amp; Runner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Actions Runner Controller (ARC) on AKS</a:t>
            </a:r>
            <a:br/>
            <a:r>
              <a:t>  → learn.microsoft.com/en-us/azure/aks/github-actions-azure-files-overview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ARC Quick Start (GitHub Docs)</a:t>
            </a:r>
            <a:br/>
            <a:r>
              <a:t>  → docs.github.com/en/actions/hosting-your-own-runners/managing-self-hosted-runners-with-actions-runner-controller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ARC Helm Charts &amp; Config</a:t>
            </a:r>
            <a:br/>
            <a:r>
              <a:t>  → github.com/actions/actions-runner-controller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097280"/>
            <a:ext cx="3566160" cy="530352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097280"/>
            <a:ext cx="3566160" cy="54864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Decision Guides &amp; Blogs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When to Choose GitHub-Hosted vs Self-Hosted</a:t>
            </a:r>
            <a:br/>
            <a:r>
              <a:t>  → github.blog/enterprise-software/ci-cd/when-to-choose-github-hosted-runners-or-self-hosted-runners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Enterprise Runner Management</a:t>
            </a:r>
            <a:br/>
            <a:r>
              <a:t>  → docs.github.com/en/enterprise-cloud@latest/admin/managing-github-actions-for-your-enterprise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7DE"/>
                </a:solidFill>
                <a:latin typeface="Segoe UI"/>
              </a:defRPr>
            </a:pPr>
            <a:r>
              <a:t>▸  GitHub Actions Security Cheat Sheet</a:t>
            </a:r>
            <a:br/>
            <a:r>
              <a:t>  → blog.gitguardian.com/github-actions-security-cheat-sheet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🧭  Quick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280160"/>
            <a:ext cx="3931920" cy="822960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Does data leave your network?</a:t>
            </a:r>
            <a:br/>
            <a:r>
              <a:t>Regulatory / compliance constraint?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200400" cy="128016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YES → On-Prem Runner</a:t>
            </a:r>
            <a:br/>
            <a:br/>
            <a:r>
              <a:t>🏢 Self-hosted, air-gapped,</a:t>
            </a:r>
            <a:br/>
            <a:r>
              <a:t>full audit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926080"/>
            <a:ext cx="3200400" cy="822960"/>
          </a:xfrm>
          <a:prstGeom prst="roundRect">
            <a:avLst/>
          </a:prstGeom>
          <a:solidFill>
            <a:srgbClr val="2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Need GPU, auto-scale,</a:t>
            </a:r>
            <a:br/>
            <a:r>
              <a:t>or large compute?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3200400" cy="12801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YES → AKS Runner (ARC)</a:t>
            </a:r>
            <a:br/>
            <a:br/>
            <a:r>
              <a:t>☸️ Kubernetes-orchestrated,</a:t>
            </a:r>
            <a:br/>
            <a:r>
              <a:t>GPU node pools, scale-to-zero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572000"/>
            <a:ext cx="3474720" cy="128016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NO → GitHub-Hosted Runner</a:t>
            </a:r>
            <a:br/>
            <a:br/>
            <a:r>
              <a:t>☁️ Zero-maintenance, ephemeral,</a:t>
            </a:r>
            <a:br/>
            <a:r>
              <a:t>per-minute billing, instant start</a:t>
            </a:r>
          </a:p>
        </p:txBody>
      </p:sp>
      <p:sp>
        <p:nvSpPr>
          <p:cNvPr id="8" name="Down Arrow 7"/>
          <p:cNvSpPr/>
          <p:nvPr/>
        </p:nvSpPr>
        <p:spPr>
          <a:xfrm>
            <a:off x="5029200" y="2148840"/>
            <a:ext cx="411480" cy="731520"/>
          </a:xfrm>
          <a:prstGeom prst="down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5669280" y="3794760"/>
            <a:ext cx="411480" cy="731520"/>
          </a:xfrm>
          <a:prstGeom prst="down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83E"/>
                </a:solidFill>
                <a:latin typeface="Segoe UI"/>
              </a:defRPr>
            </a:pPr>
            <a:r>
              <a:t>YES ──────▶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8BFF"/>
                </a:solidFill>
                <a:latin typeface="Segoe UI"/>
              </a:defRPr>
            </a:pPr>
            <a:r>
              <a:t>NO 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YES ──▶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NO ──▶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✅  One workflow file can target on-prem, AKS, and GitHub-hosted runners simultaneously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✅  No forced "all in cloud" decision — adopt incrementally, workload by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71215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✅  Use labels to route jobs: [self-hosted, onprem], [self-hosted, aks, gpu], ubuntu-latest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958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✅  On-prem for compliance &amp; legacy  |  AKS for elastic/GPU  |  GitHub-hosted for commodity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879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✅  ARC (Actions Runner Controller) enables Kubernetes-native autoscaling with scale-to-zero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✅  Security: ephemeral runners, pinned actions, OIDC credentials, dedicated runner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046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✅  Monitor queue times and runner utilization to right-size your fleet over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0D7DE"/>
                </a:solidFill>
                <a:latin typeface="Segoe UI"/>
              </a:defRPr>
            </a:pPr>
            <a:r>
              <a:t>github.com/actions  •  docs.github.com/actions  •  learn.microsoft.com/azure/aks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