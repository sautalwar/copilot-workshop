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GitHub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58A6FF"/>
                </a:solidFill>
                <a:latin typeface="Segoe UI"/>
              </a:defRPr>
            </a:pPr>
            <a:r>
              <a:t>Migration &amp; Resilience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949E"/>
                </a:solidFill>
                <a:latin typeface="Segoe UI"/>
              </a:defRPr>
            </a:pPr>
            <a:r>
              <a:t>GHES → GHEC Migration  •  Backup &amp; DR Strategy  •  Outage Playbooks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27432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GitHub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1/23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63500" cy="6400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5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58A6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579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Resilience Architecture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910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4-layer architecture for business continuity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514600"/>
            <a:ext cx="63500" cy="6400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65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FB950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540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GHES → GHEC Migration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870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Enterprise Importer workflow, phases &amp; tooling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474720"/>
            <a:ext cx="63500" cy="640080"/>
          </a:xfrm>
          <a:prstGeom prst="rect">
            <a:avLst/>
          </a:prstGeom>
          <a:solidFill>
            <a:srgbClr val="D2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525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29A22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500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Backup &amp; DR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830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4-layer backup approach: Mirror, Metadata, Snapshots, Azure DR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434840"/>
            <a:ext cx="63500" cy="64008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85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5149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46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Outage Response Playbooks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790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GitHub.com, Azure region, and data corruption scenarios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394960"/>
            <a:ext cx="63500" cy="64008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445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C8C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42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Responsibilities &amp; Next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750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Team roles, documentation links, action items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2/23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Why Resilience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Business continuity requires multiple layers of protection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3108960" cy="2286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29A22"/>
                </a:solidFill>
                <a:latin typeface="Segoe UI"/>
              </a:defRPr>
            </a:pPr>
            <a:r>
              <a:t>⚠️  Platform Outage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  <a:latin typeface="Segoe UI"/>
              </a:defRPr>
            </a:pPr>
            <a:r>
              <a:t>GitHub.com or cloud</a:t>
            </a:r>
            <a:br/>
            <a:r>
              <a:t>provider experiences</a:t>
            </a:r>
            <a:br/>
            <a:r>
              <a:t>downtime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108960" cy="2286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5149"/>
                </a:solidFill>
                <a:latin typeface="Segoe UI"/>
              </a:defRPr>
            </a:pPr>
            <a:r>
              <a:t>🗑️  Data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  <a:latin typeface="Segoe UI"/>
              </a:defRPr>
            </a:pPr>
            <a:r>
              <a:t>Accidental deletion,</a:t>
            </a:r>
            <a:br/>
            <a:r>
              <a:t>corruption, or</a:t>
            </a:r>
            <a:br/>
            <a:r>
              <a:t>ransomware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45920"/>
            <a:ext cx="3108960" cy="2286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C8CFF"/>
                </a:solidFill>
                <a:latin typeface="Segoe UI"/>
              </a:defRPr>
            </a:pPr>
            <a:r>
              <a:t>📋 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4688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  <a:latin typeface="Segoe UI"/>
              </a:defRPr>
            </a:pPr>
            <a:r>
              <a:t>Regulatory requirements</a:t>
            </a:r>
            <a:br/>
            <a:r>
              <a:t>for data residency,</a:t>
            </a:r>
            <a:br/>
            <a:r>
              <a:t>retention &amp; DR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389120"/>
            <a:ext cx="10332720" cy="10972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58A6FF"/>
                </a:solidFill>
              </a:defRPr>
            </a:pPr>
            <a:r>
              <a:t>💡  Shared Responsibility Model</a:t>
            </a:r>
          </a:p>
          <a:p>
            <a:pPr>
              <a:defRPr sz="1500">
                <a:solidFill>
                  <a:srgbClr val="E6EDF3"/>
                </a:solidFill>
              </a:defRPr>
            </a:pPr>
            <a:r>
              <a:t>GitHub ensures platform availability and infrastructure security. You are responsible for protecting your data — repositories, metadata, configurations, and secrets.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3/23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Resilience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4 complementary layers ensuring business continuity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651760" cy="4114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1828800"/>
            <a:ext cx="594360" cy="59436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8A6FF"/>
                </a:solidFill>
                <a:latin typeface="Segoe UI"/>
              </a:defRPr>
            </a:pPr>
            <a:r>
              <a:t>SaaS Layer — GHEC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33756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Primary collaboration</a:t>
            </a:r>
            <a:br/>
            <a:r>
              <a:t>Multi-region redundancy</a:t>
            </a:r>
            <a:br/>
            <a:r>
              <a:t>Git mirror support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45920"/>
            <a:ext cx="2651760" cy="4114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43400" y="1828800"/>
            <a:ext cx="594360" cy="59436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06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FB950"/>
                </a:solidFill>
                <a:latin typeface="Segoe UI"/>
              </a:defRPr>
            </a:pPr>
            <a:r>
              <a:t>Self-Managed — GHES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33756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Air-gapped / regulated</a:t>
            </a:r>
            <a:br/>
            <a:r>
              <a:t>HA + Geo-replication</a:t>
            </a:r>
            <a:br/>
            <a:r>
              <a:t>Full backup snapshots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651760" cy="4114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23760" y="1828800"/>
            <a:ext cx="594360" cy="594360"/>
          </a:xfrm>
          <a:prstGeom prst="ellipse">
            <a:avLst/>
          </a:prstGeom>
          <a:solidFill>
            <a:srgbClr val="D2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06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29A22"/>
                </a:solidFill>
                <a:latin typeface="Segoe UI"/>
              </a:defRPr>
            </a:pPr>
            <a:r>
              <a:t>Azure Resilience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33756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GRS / GZRS storage</a:t>
            </a:r>
            <a:br/>
            <a:r>
              <a:t>Cross-region DR</a:t>
            </a:r>
            <a:br/>
            <a:r>
              <a:t>Archival backups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645920"/>
            <a:ext cx="2651760" cy="4114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04120" y="1828800"/>
            <a:ext cx="594360" cy="594360"/>
          </a:xfrm>
          <a:prstGeom prst="ellipse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606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C8CFF"/>
                </a:solidFill>
                <a:latin typeface="Segoe UI"/>
              </a:defRPr>
            </a:pPr>
            <a:r>
              <a:t>Local 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33756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Air-gapped GHES</a:t>
            </a:r>
            <a:br/>
            <a:r>
              <a:t>Offline secure storage</a:t>
            </a:r>
            <a:br/>
            <a:r>
              <a:t>Cloud-independent 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3474720"/>
            <a:ext cx="228600" cy="381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89320" y="3474720"/>
            <a:ext cx="228600" cy="381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9680" y="3474720"/>
            <a:ext cx="228600" cy="381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4/23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Layer A: GitHub Enterprise Cloud (GHEC)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Primary SaaS collaboration platform with built-in redundancy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656080"/>
            <a:ext cx="127000" cy="127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Multi-Region Redundancy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59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GitHub.com infrastructure spans multiple regions with automatic failover, ensuring high availability for code hosting and collaboration.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479040"/>
            <a:ext cx="127000" cy="127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Git Mirroring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82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Supports git clone --mirror for full repository extraction including all refs, branches, tags, and history. Enables offline backup strategies.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302000"/>
            <a:ext cx="127000" cy="127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GitHub Enterprise Importer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05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Self-serve migration tool for importing repositories, issues, PRs, and metadata from GHES, GitLab, Bitbucket, and Azure DevOps.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24960"/>
            <a:ext cx="127000" cy="127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API-Driven Metadata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3281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REST and GraphQL APIs enable programmatic export of issues, PRs, releases, projects, and Actions workflows for backup.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947920"/>
            <a:ext cx="127000" cy="127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Security &amp;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151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SOC 2, FedRAMP, GDPR compliance. Advanced Security features including secret scanning, code scanning, and Dependabot.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5/23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Layer B: GitHub Enterprise Server (GHES)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Self-hosted deployment for air-gapped, regulated, or offline environments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5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High Availability (HA)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08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Primary/replica topology</a:t>
            </a:r>
            <a:br/>
            <a:r>
              <a:t>Automatic failover</a:t>
            </a:r>
            <a:br/>
            <a:r>
              <a:t>Synchronous replication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1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Geo-Replication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153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Active read replicas</a:t>
            </a:r>
            <a:br/>
            <a:r>
              <a:t>Multiple geographic sites</a:t>
            </a:r>
            <a:br/>
            <a:r>
              <a:t>Load distribution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76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Backup Utilities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698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Incremental snapshots</a:t>
            </a:r>
            <a:br/>
            <a:r>
              <a:t>Online (no downtime)</a:t>
            </a:r>
            <a:br/>
            <a:r>
              <a:t>ghe-backup / ghe-restore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55448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65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Air-Gapped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9608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Fully offline operation</a:t>
            </a:r>
            <a:br/>
            <a:r>
              <a:t>No internet dependency</a:t>
            </a:r>
            <a:br/>
            <a:r>
              <a:t>Secure regulated envs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10896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21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Full Platform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5153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Actions, Packages, Security</a:t>
            </a:r>
            <a:br/>
            <a:r>
              <a:t>Identical to GHEC features</a:t>
            </a:r>
            <a:br/>
            <a:r>
              <a:t>Self-managed control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76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Version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0698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GHES 3.8+ for GEI</a:t>
            </a:r>
            <a:br/>
            <a:r>
              <a:t>3.17+ built-in backup svc</a:t>
            </a:r>
            <a:br/>
            <a:r>
              <a:t>Regular update cadence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6/23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Layer C: Azure Resilience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Geo-redundant storage for backups, snapshots, and archival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29A22"/>
                </a:solidFill>
                <a:latin typeface="Segoe UI"/>
              </a:defRPr>
            </a:pPr>
            <a:r>
              <a:t>GRS — Geo-Redundant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Primary → Paired region replication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97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6 copies of data (3 local + 3 remote)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Automatic async replication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Manual failover to secondary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Cost-effective for most workloads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29A22"/>
                </a:solidFill>
                <a:latin typeface="Segoe UI"/>
              </a:defRPr>
            </a:pPr>
            <a:r>
              <a:t>GZRS — Geo-Zone-Redundant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Zone redundancy + geo replication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697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Highest durability (16 nines)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Survives zone AND region failure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RA-GZRS for read access in secondary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Recommended for critical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54880"/>
            <a:ext cx="10698480" cy="14630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92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29A22"/>
                </a:solidFill>
                <a:latin typeface="Segoe UI"/>
              </a:defRPr>
            </a:pPr>
            <a:r>
              <a:t>What to Store in Azure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49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Segoe UI"/>
              </a:defRPr>
            </a:pPr>
            <a:r>
              <a:t>GHES backup snapshots  •  Git mirror archives (.zip)  •  Metadata API exports (JSON)  •  LFS objects  •  Release artifacts  •  Secrets vault backups  •  Audit logs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7/23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Layer D: Customer Local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Air-gapped operations for maximum control and cloud independence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30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C8CFF"/>
                </a:solidFill>
                <a:latin typeface="Segoe UI"/>
              </a:defRPr>
            </a:pPr>
            <a:r>
              <a:t>Air-Gapped GHES Instance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35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Fully isolated from internet. Ideal for classified, regulated, or high-security environments where cloud connectivity is restricted.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1069848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819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C8CFF"/>
                </a:solidFill>
                <a:latin typeface="Segoe UI"/>
              </a:defRPr>
            </a:pPr>
            <a:r>
              <a:t>Offline Backup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24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Encrypted backups stored on local NAS, SAN, or tape. Ensures data availability even during complete cloud platform failures.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008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C8CFF"/>
                </a:solidFill>
                <a:latin typeface="Segoe UI"/>
              </a:defRPr>
            </a:pPr>
            <a:r>
              <a:t>Controlled Secure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1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Physical security, access controls, and audit trails under your organization's direct management. Full chain of custody.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1069848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196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C8CFF"/>
                </a:solidFill>
                <a:latin typeface="Segoe UI"/>
              </a:defRPr>
            </a:pPr>
            <a:r>
              <a:t>Cloud-Independent Continuity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501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Development, code review, and CI/CD can continue on-premises during extended GitHub.com or Azure outages.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8/23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Segoe UI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GHES → GHEC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949E"/>
                </a:solidFill>
                <a:latin typeface="Segoe UI"/>
              </a:defRPr>
            </a:pPr>
            <a:r>
              <a:t>Using GitHub Enterprise Importer (GEI)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274320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9/23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Migration Overview — GHES to GHEC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GitHub Enterprise Importer: the official, self-serve migration tool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1828800"/>
            <a:ext cx="548640" cy="54864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8A6FF"/>
                </a:solidFill>
                <a:latin typeface="Segoe UI"/>
              </a:defRPr>
            </a:pPr>
            <a: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Inventory repos, teams,</a:t>
            </a:r>
            <a:br/>
            <a:r>
              <a:t>stakeholders. Identify</a:t>
            </a:r>
            <a:br/>
            <a:r>
              <a:t>scope &amp; dependencies.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2926080"/>
            <a:ext cx="228600" cy="381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97480" y="164592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74720" y="1828800"/>
            <a:ext cx="548640" cy="54864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FB950"/>
                </a:solidFill>
                <a:latin typeface="Segoe UI"/>
              </a:defRPr>
            </a:pPr>
            <a:r>
              <a:t>Trial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Run trial migrations</a:t>
            </a:r>
            <a:br/>
            <a:r>
              <a:t>to validate. Identify</a:t>
            </a:r>
            <a:br/>
            <a:r>
              <a:t>gaps &amp; blockers.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2926080"/>
            <a:ext cx="228600" cy="381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164592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06440" y="1828800"/>
            <a:ext cx="548640" cy="548640"/>
          </a:xfrm>
          <a:prstGeom prst="ellipse">
            <a:avLst/>
          </a:prstGeom>
          <a:solidFill>
            <a:srgbClr val="D2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29A22"/>
                </a:solidFill>
                <a:latin typeface="Segoe UI"/>
              </a:defRPr>
            </a:pPr>
            <a:r>
              <a:t>Migrate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Execute production</a:t>
            </a:r>
            <a:br/>
            <a:r>
              <a:t>migration. Pause</a:t>
            </a:r>
            <a:br/>
            <a:r>
              <a:t>work on repos.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2926080"/>
            <a:ext cx="228600" cy="381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60920" y="164592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38160" y="1828800"/>
            <a:ext cx="548640" cy="548640"/>
          </a:xfrm>
          <a:prstGeom prst="ellipse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C8CFF"/>
                </a:solidFill>
                <a:latin typeface="Segoe UI"/>
              </a:defRPr>
            </a:pPr>
            <a: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Verify data fidelity.</a:t>
            </a:r>
            <a:br/>
            <a:r>
              <a:t>Review logs. Fix</a:t>
            </a:r>
            <a:br/>
            <a:r>
              <a:t>warnings.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64040" y="2926080"/>
            <a:ext cx="228600" cy="381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92640" y="164592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69880" y="1828800"/>
            <a:ext cx="548640" cy="548640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5149"/>
                </a:solidFill>
                <a:latin typeface="Segoe UI"/>
              </a:defRPr>
            </a:pPr>
            <a:r>
              <a:t>Cutover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Redirect users. Re-enable</a:t>
            </a:r>
            <a:br/>
            <a:r>
              <a:t>rulesets, integrations.</a:t>
            </a:r>
            <a:br/>
            <a:r>
              <a:t>Resume work.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937760"/>
            <a:ext cx="10698480" cy="10972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29A22"/>
                </a:solidFill>
              </a:defRPr>
            </a:pPr>
            <a:r>
              <a:t>⚡ Key: GEI does NOT support incremental/delta migration</a:t>
            </a:r>
          </a:p>
          <a:p>
            <a:pPr>
              <a:defRPr sz="1400">
                <a:solidFill>
                  <a:srgbClr val="E6EDF3"/>
                </a:solidFill>
              </a:defRPr>
            </a:pPr>
            <a:r>
              <a:t>Pause all work on repositories during production migration. Changes made during the process must be migrated manually.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10/23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What Migrates with GEI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Understanding the scope of automated migration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46634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Segoe UI"/>
              </a:defRPr>
            </a:pPr>
            <a:r>
              <a:t>✅  Migrates Automatically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94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Git source (all branches, tags, history)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420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Pull requests (with review comments)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8950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Issues (with comments, labels, milestones)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3697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Wikis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844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Releases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31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Repository settings (visibility, etc.)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793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Team &amp; permission associations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6268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Branch protection rules → Rulesets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554480"/>
            <a:ext cx="5029200" cy="46634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5149"/>
                </a:solidFill>
                <a:latin typeface="Segoe UI"/>
              </a:defRPr>
            </a:pPr>
            <a:r>
              <a:t>🔧  Requires Manual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194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Webhooks &amp; integrations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5420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GitHub Actions secrets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88950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Deploy keys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23697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GitHub Apps configuration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5844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Packages (container images, npm, etc.)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931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Discussions (partial support)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2793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Large repositories &gt; 40 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6268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Custom server-side hooks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11/23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GEI CLI — Commands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Step-by-step migration using the GitHub Enterprise Importer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Step 1: Install the GEI CLI Extension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515600" cy="54864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gh extension install github/gh-gei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Step 2: Generate Migration 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10515600" cy="91440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gh gei generate-script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  --github-source-org SOURCE_ORG --github-target-org TARGET_ORG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  --ghes-api-url https://ghes.yourcompany.com/api/v3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  --output migrate.ps1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Step 3: Execute Single Repo Migration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10515600" cy="91440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gh gei migrate-repo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  --source-repo SOURCE_REPO --target-repo TARGET_REPO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  --github-source-org SOURCE_ORG --github-target-org TARGET_ORG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  --ghes-api-url https://ghes.yourcompany.com/api/v3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Segoe UI"/>
              </a:defRPr>
            </a:pPr>
            <a:r>
              <a:t>Prerequisites: GHES 3.8+  •  org owner on source &amp; target  •  Add 'Repository migrations' to ruleset bypass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12/23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2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29A22"/>
                </a:solidFill>
                <a:latin typeface="Segoe UI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Backup &amp; DR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949E"/>
                </a:solidFill>
                <a:latin typeface="Segoe UI"/>
              </a:defRPr>
            </a:pPr>
            <a:r>
              <a:t>4-Layer Defense-in-Depth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2743200" cy="38100"/>
          </a:xfrm>
          <a:prstGeom prst="rect">
            <a:avLst/>
          </a:prstGeom>
          <a:solidFill>
            <a:srgbClr val="D2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13/23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Backup Layer 1: Git Mirror Backups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Daily / Hourly — Complete repository history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29A22"/>
                </a:solidFill>
                <a:latin typeface="Segoe UI"/>
              </a:defRPr>
            </a:pPr>
            <a:r>
              <a:t>Backup 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515600" cy="128016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# Clone full repository with all refs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git clone --mirror https://github.com/ORG/REPO.git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# Fetch all LFS objects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git lfs fetch --all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# Archive for storage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zip -r REPO-backup-$(date +%Y%m%d).zip REPO.git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Segoe UI"/>
              </a:defRPr>
            </a:pPr>
            <a:r>
              <a:t>Restore Process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515600" cy="100584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# Unzip and push to new remote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unzip REPO-backup.zip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cd REPO.git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git remote add origin NEW_URL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git push --mirror origin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10515600" cy="10058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349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29A22"/>
                </a:solidFill>
                <a:latin typeface="Segoe UI"/>
              </a:defRPr>
            </a:pPr>
            <a:r>
              <a:t>Storage Targets: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34924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Azure Blob (LRS/GRS/GZRS)  •  On-premises NAS  •  Encrypted offline vault</a:t>
            </a:r>
            <a:br/>
            <a:r>
              <a:t>Schedule: Hourly for active repos, Daily for all repos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14/23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Backup Layer 2: Metadata Backups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Weekly — API-driven export of collaboration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5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29A22"/>
                </a:solidFill>
                <a:latin typeface="Segoe UI"/>
              </a:defRPr>
            </a:pPr>
            <a:r>
              <a:t>Issues &amp; Comments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605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Full issue history, labels, assignees, milestones, and all comment threads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5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scadia Code"/>
              </a:defRPr>
            </a:pPr>
            <a:r>
              <a:t>REST API: /repos/{owner}/{repo}/issues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42032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928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29A22"/>
                </a:solidFill>
                <a:latin typeface="Segoe UI"/>
              </a:defRPr>
            </a:pPr>
            <a:r>
              <a:t>Pull Requests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5928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PR metadata, review comments, status checks, merge info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8468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scadia Code"/>
              </a:defRPr>
            </a:pPr>
            <a:r>
              <a:t>REST API: /repos/{owner}/{repo}/pulls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9584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803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29A22"/>
                </a:solidFill>
                <a:latin typeface="Segoe UI"/>
              </a:defRPr>
            </a:pPr>
            <a:r>
              <a:t>Releases &amp; 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5803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Release notes, assets, semantic versioning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8343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scadia Code"/>
              </a:defRPr>
            </a:pPr>
            <a:r>
              <a:t>REST API: /repos/{owner}/{repo}/releases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17136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679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29A22"/>
                </a:solidFill>
                <a:latin typeface="Segoe UI"/>
              </a:defRPr>
            </a:pPr>
            <a:r>
              <a:t>Projects &amp; Boards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5679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Project boards, cards, columns, automation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8219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scadia Code"/>
              </a:defRPr>
            </a:pPr>
            <a:r>
              <a:t>GraphQL: projectsV2 query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504688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5554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29A22"/>
                </a:solidFill>
                <a:latin typeface="Segoe UI"/>
              </a:defRPr>
            </a:pPr>
            <a:r>
              <a:t>Actions 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5554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Workflow YAML files, run history, secrets (names only)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8094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scadia Code"/>
              </a:defRPr>
            </a:pPr>
            <a:r>
              <a:t>REST API: /repos/{owner}/{repo}/actions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29A22"/>
                </a:solidFill>
                <a:latin typeface="Segoe UI"/>
              </a:defRPr>
            </a:pPr>
            <a:r>
              <a:t>⚠️  Migration archives do NOT include everything — treat metadata backups as augmentation to git mirror backups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15/23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Backup Layer 3: GHES Backup Snapshots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If customer chooses GHES — Full instance protection with backup-utils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Segoe UI"/>
              </a:defRPr>
            </a:pPr>
            <a:r>
              <a:t>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94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✓  Incremental snapshots (only changed 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420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✓  Online backups — zero downtime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8950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✓  Runs on separate dedicated backup host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3697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✓  Supports air-gapped environments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844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✓  Includes repos, issues, PRs, settings, hooks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31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✓  Restores full GHES instance state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55448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Segoe UI"/>
              </a:defRPr>
            </a:pPr>
            <a:r>
              <a:t>Recommended Retention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Daily Rolling Backups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30 days of daily incremental snapshots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Monthly Full Snapshots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12 months of monthly full snapshots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Key Commands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440680"/>
            <a:ext cx="10515600" cy="82296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# Create backup snapshot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ghe-backup -v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# Restore to GHES instance (maintenance mode required)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ghe-restore -v SNAPSHOT_ID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16/23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Backup Layer 4: Azure Geo-Redundant DR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Cross-region redundancy for maximum data durability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29A22"/>
                </a:solidFill>
                <a:latin typeface="Segoe UI"/>
              </a:defRPr>
            </a:pPr>
            <a:r>
              <a:t>Recommended Configuration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4572000" cy="256032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🏢  Primary Region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Git mirror archives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Metadata JSON exports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918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GHES backup snapshots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661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LFS objects &amp; release artifacts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40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Audit logs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283464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29A22"/>
                </a:solidFill>
              </a:defRPr>
            </a:pPr>
            <a:r>
              <a:t>GRS/GZRS</a:t>
            </a:r>
          </a:p>
          <a:p>
            <a:pPr algn="ctr">
              <a:defRPr sz="1400">
                <a:solidFill>
                  <a:srgbClr val="8B949E"/>
                </a:solidFill>
              </a:defRPr>
            </a:pPr>
            <a:r>
              <a:t>Async 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2103120"/>
            <a:ext cx="4572000" cy="256032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240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🌍  Paired Region (DR)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743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Automatic replication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017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Read access (RA-GZRS)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291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Manual failover capability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566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Same data, different geography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840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Lifecycle auto-tiering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29200"/>
            <a:ext cx="10698480" cy="10972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166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29A22"/>
                </a:solidFill>
                <a:latin typeface="Segoe UI"/>
              </a:defRPr>
            </a:pPr>
            <a:r>
              <a:t>💰  Storage Lifecycle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Hot tier (0-30 days) → Cool tier (30-90 days) → Archive tier (90+ days)   |   Reduces long-term storage costs by up to 80%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17/23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5149"/>
                </a:solidFill>
                <a:latin typeface="Segoe UI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Outage Response Playbooks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949E"/>
                </a:solidFill>
                <a:latin typeface="Segoe UI"/>
              </a:defRPr>
            </a:pPr>
            <a:r>
              <a:t>3 Scenarios — GitHub.com, Azure Region, Data Corruption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2743200" cy="381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18/23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Scenario A: GitHub.com Outage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Steps to maintain operations during platform unavailability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732280"/>
            <a:ext cx="457200" cy="4572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05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8A6FF"/>
                </a:solidFill>
                <a:latin typeface="Segoe UI"/>
              </a:defRPr>
            </a:pPr>
            <a:r>
              <a:t>Switch Builds to Local Clones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84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Redirect CI/CD pipelines to use locally cached repository clones. Developers continue working with their local copies.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921000"/>
            <a:ext cx="457200" cy="457200"/>
          </a:xfrm>
          <a:prstGeom prst="ellipse">
            <a:avLst/>
          </a:prstGeom>
          <a:solidFill>
            <a:srgbClr val="D2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94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29A22"/>
                </a:solidFill>
                <a:latin typeface="Segoe UI"/>
              </a:defRPr>
            </a:pPr>
            <a:r>
              <a:t>Freeze High-Risk Deployments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073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Halt production deployments that depend on GitHub for approval workflows, status checks, or artifact retrieval.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109720"/>
            <a:ext cx="457200" cy="4572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982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FB950"/>
                </a:solidFill>
                <a:latin typeface="Segoe UI"/>
              </a:defRPr>
            </a:pPr>
            <a:r>
              <a:t>Use Mirrored Repos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262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Leverage previously mirrored repositories for read-only code review, auditing, and reference. Continue development locally.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298440"/>
            <a:ext cx="457200" cy="457200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17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5149"/>
                </a:solidFill>
                <a:latin typeface="Segoe UI"/>
              </a:defRPr>
            </a:pPr>
            <a:r>
              <a:t>Failover to GHES (Optional)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450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If extended outage, route all operations to air-gapped GHES instance. Provides full Git, CI, and collaboration capabilities.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19/23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Scenario B: Azure Region Outage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Leveraging geo-redundancy for cross-region failover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732280"/>
            <a:ext cx="457200" cy="4572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05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8A6FF"/>
                </a:solidFill>
                <a:latin typeface="Segoe UI"/>
              </a:defRPr>
            </a:pPr>
            <a:r>
              <a:t>Confirm GRS/GZRS Replication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84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Verify that Azure Storage geo-replication is healthy and data has been replicated to the paired region. Check Azure Portal &gt; Storage Account &gt; Geo-replication.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921000"/>
            <a:ext cx="457200" cy="457200"/>
          </a:xfrm>
          <a:prstGeom prst="ellipse">
            <a:avLst/>
          </a:prstGeom>
          <a:solidFill>
            <a:srgbClr val="D2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94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29A22"/>
                </a:solidFill>
                <a:latin typeface="Segoe UI"/>
              </a:defRPr>
            </a:pPr>
            <a:r>
              <a:t>Failover to Secondary Region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073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If primary region is unavailable, initiate manual failover to the secondary (paired) region via Azure Portal or CLI: az storage account failover.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109720"/>
            <a:ext cx="457200" cy="4572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982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FB950"/>
                </a:solidFill>
                <a:latin typeface="Segoe UI"/>
              </a:defRPr>
            </a:pPr>
            <a:r>
              <a:t>Restore GHES from Snapshots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262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If using GHES, restore the latest backup snapshot from Azure Storage in the secondary region using ghe-restore.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298440"/>
            <a:ext cx="457200" cy="457200"/>
          </a:xfrm>
          <a:prstGeom prst="ellipse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17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BC8CFF"/>
                </a:solidFill>
                <a:latin typeface="Segoe UI"/>
              </a:defRPr>
            </a:pPr>
            <a:r>
              <a:t>Validate &amp; Resume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450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Verify data integrity, test access to restored repositories, and resume normal development operations.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20/23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Scenario C: Corruption / Accidental Deletion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Recovery from data loss using layered backup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732280"/>
            <a:ext cx="457200" cy="4572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05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8A6FF"/>
                </a:solidFill>
                <a:latin typeface="Segoe UI"/>
              </a:defRPr>
            </a:pPr>
            <a:r>
              <a:t>Recover via Mirror Backups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84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Restore repository from the latest git mirror backup. Push --mirror to a new or existing remote to restore full history, branches, and tags.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921000"/>
            <a:ext cx="457200" cy="457200"/>
          </a:xfrm>
          <a:prstGeom prst="ellipse">
            <a:avLst/>
          </a:prstGeom>
          <a:solidFill>
            <a:srgbClr val="D2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94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29A22"/>
                </a:solidFill>
                <a:latin typeface="Segoe UI"/>
              </a:defRPr>
            </a:pPr>
            <a:r>
              <a:t>Re-import 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073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Use archived metadata JSON exports to recreate issues, PRs, labels, milestones, and project boards via the GitHub 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109720"/>
            <a:ext cx="457200" cy="4572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982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FB950"/>
                </a:solidFill>
                <a:latin typeface="Segoe UI"/>
              </a:defRPr>
            </a:pPr>
            <a:r>
              <a:t>GHES Full Restore (if applicable)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262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For complete instance recovery, use ghe-restore with the latest GHES snapshot. This restores the entire platform state.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298440"/>
            <a:ext cx="457200" cy="457200"/>
          </a:xfrm>
          <a:prstGeom prst="ellipse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17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BC8CFF"/>
                </a:solidFill>
                <a:latin typeface="Segoe UI"/>
              </a:defRPr>
            </a:pPr>
            <a:r>
              <a:t>GitHub Import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450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For targeted recovery, use GitHub's import API or Enterprise Importer to selectively restore specific repositories or organizations.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21/23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Runbook Responsibilities &amp;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Clear ownership and reference materials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30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Your DevOps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306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Execute mirror backups, manage GHES snapshots, run recovery procedures, maintain automation scripts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82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Your Security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68224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Validate air-gapped controls, manage encryption keys, enforce retention policies, audit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10515600" cy="9144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733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29A22"/>
                </a:solidFill>
                <a:latin typeface="Segoe UI"/>
              </a:defRPr>
            </a:pPr>
            <a:r>
              <a:t>GitHub / Microsoft 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7338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Architecture design support, migration assistance, escalation handling, best-practice guidance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📚  Official Documentation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Segoe UI"/>
              </a:defRPr>
            </a:pPr>
            <a:r>
              <a:t>Git Mirror Backup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5029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scadia Code"/>
              </a:defRPr>
            </a:pPr>
            <a:r>
              <a:t>docs.github.com/en/repositories/archiving-a-github-repository/backing-up-a-repository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3218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Segoe UI"/>
              </a:defRPr>
            </a:pPr>
            <a:r>
              <a:t>GitHub Backup Utilities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3218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scadia Code"/>
              </a:defRPr>
            </a:pPr>
            <a:r>
              <a:t>github.com/github/backup-utils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6144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Segoe UI"/>
              </a:defRPr>
            </a:pPr>
            <a:r>
              <a:t>GHES Geo-Replication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6144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scadia Code"/>
              </a:defRPr>
            </a:pPr>
            <a:r>
              <a:t>docs.github.com/en/enterprise-server/admin/.../about-geo-replication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9070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Segoe UI"/>
              </a:defRPr>
            </a:pPr>
            <a:r>
              <a:t>Azure GRS/GZRS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9070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scadia Code"/>
              </a:defRPr>
            </a:pPr>
            <a:r>
              <a:t>learn.microsoft.com/en-us/azure/storage/common/storage-redundancy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22/23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58A6FF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840480"/>
            <a:ext cx="7589520" cy="2286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40233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FB950"/>
                </a:solidFill>
                <a:latin typeface="Segoe UI"/>
              </a:defRPr>
            </a:pPr>
            <a:r>
              <a:t>Recommended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45262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Segoe UI"/>
              </a:defRPr>
            </a:pPr>
            <a:r>
              <a:t>1.  Run a trial migration with 2-3 representative repositories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8463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Segoe UI"/>
              </a:defRPr>
            </a:pPr>
            <a:r>
              <a:t>2.  Implement automated git mirror backup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5166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Segoe UI"/>
              </a:defRPr>
            </a:pPr>
            <a:r>
              <a:t>3.  Configure Azure GRS/GZRS storage accounts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5486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Segoe UI"/>
              </a:defRPr>
            </a:pPr>
            <a:r>
              <a:t>4.  Conduct tabletop exercise for each outage 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5806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Segoe UI"/>
              </a:defRPr>
            </a:pPr>
            <a:r>
              <a:t>5.  Establish backup monitoring and alerting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23/23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