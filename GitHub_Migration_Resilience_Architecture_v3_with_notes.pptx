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3494" autoAdjust="0"/>
  </p:normalViewPr>
  <p:slideViewPr>
    <p:cSldViewPr snapToGrid="0" snapToObjects="1">
      <p:cViewPr>
        <p:scale>
          <a:sx n="74" d="100"/>
          <a:sy n="74" d="100"/>
        </p:scale>
        <p:origin x="18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971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 — Title Slide (1 minute)</a:t>
            </a:r>
          </a:p>
          <a:p>
            <a:r>
              <a:t>Welcome everyone to today's session. We're going to cover two key areas:</a:t>
            </a:r>
          </a:p>
          <a:p>
            <a:r>
              <a:t>First, a quick overview of our GitHub Migration &amp; Resilience Architecture — how we protect our code assets with a multi-layered approach spanning GHEC, GHES, Azure, and on-premises infrastructure.</a:t>
            </a:r>
          </a:p>
          <a:p>
            <a:r>
              <a:t>Then we'll dive into the Zero to Agent training where you'll go from basic Copilot usage to building with agents.</a:t>
            </a:r>
          </a:p>
          <a:p>
            <a:r>
              <a:t>This is a 45-minute session so we'll move at a good pace. Let's get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 — Resilience Architecture (5 minutes)</a:t>
            </a:r>
          </a:p>
          <a:p>
            <a:r>
              <a:t>Our resilience strategy is built on 4 complementary layers, each protecting against different failure modes.</a:t>
            </a:r>
          </a:p>
          <a:p>
            <a:endParaRPr/>
          </a:p>
          <a:p>
            <a:r>
              <a:t>Layer A — GHEC: Our primary SaaS platform. GitHub.com provides multi-region redundancy, 99.9% uptime SLA, and built-in security features. This is where day-to-day collaboration happens.</a:t>
            </a:r>
          </a:p>
          <a:p>
            <a:endParaRPr/>
          </a:p>
          <a:p>
            <a:r>
              <a:t>Layer B — GHES + HA Replica: Self-hosted GitHub running in our infrastructure. Active/passive failover with async replication of Git, MySQL, Redis, and Elasticsearch. The replica is promotable via CLI in minutes. Key point: HA protects against hardware failure, NOT data corruption — corrupted data replicates instantly.</a:t>
            </a:r>
          </a:p>
          <a:p>
            <a:endParaRPr/>
          </a:p>
          <a:p>
            <a:r>
              <a:t>Layer C — Azure GRS/GZRS: Geo-redundant storage with 16 nines of durability. We store git mirror archives, metadata exports, GHES snapshots, and LFS objects. Lifecycle rules auto-tier from Hot → Cool → Archive to reduce costs by up to 80%.</a:t>
            </a:r>
          </a:p>
          <a:p>
            <a:endParaRPr/>
          </a:p>
          <a:p>
            <a:r>
              <a:t>Layer D — Local/Air-Gapped: For maximum security and compliance — fully offline GHES instances and encrypted offline storage. Complete cloud independence.</a:t>
            </a:r>
          </a:p>
          <a:p>
            <a:endParaRPr/>
          </a:p>
          <a:p>
            <a:r>
              <a:t>Together these give us near-zero RPO and sub-30-minute RTO for every failure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 — Migration &amp; Backup Strategy (5 minutes)</a:t>
            </a:r>
          </a:p>
          <a:p>
            <a:r>
              <a:t>GHES to GHEC Migration uses GitHub Enterprise Importer (GEI). The process is: Plan → Trial → Migrate → Validate → Cutover.</a:t>
            </a:r>
          </a:p>
          <a:p>
            <a:endParaRPr/>
          </a:p>
          <a:p>
            <a:r>
              <a:t>Critical callout: GEI does NOT support incremental migration. All work on repos must be paused during production migration.</a:t>
            </a:r>
          </a:p>
          <a:p>
            <a:endParaRPr/>
          </a:p>
          <a:p>
            <a:r>
              <a:t>What migrates automatically: Git source, PRs with review comments, issues, wikis, releases, team permissions, branch protection rules.</a:t>
            </a:r>
          </a:p>
          <a:p>
            <a:r>
              <a:t>What needs manual work: Webhooks, Actions secrets, deploy keys, GitHub Apps, Packages, Discussions.</a:t>
            </a:r>
          </a:p>
          <a:p>
            <a:endParaRPr/>
          </a:p>
          <a:p>
            <a:r>
              <a:t>For Backup &amp; DR, we use 4 layers:</a:t>
            </a:r>
          </a:p>
          <a:p>
            <a:r>
              <a:t>1. Git Mirror — daily/hourly git clone --mirror for complete repo history</a:t>
            </a:r>
          </a:p>
          <a:p>
            <a:r>
              <a:t>2. Metadata API — weekly export of issues, PRs, releases, projects via REST/GraphQL</a:t>
            </a:r>
          </a:p>
          <a:p>
            <a:r>
              <a:t>3. GHES Snapshots — incremental backups via github/backup-utils (zero downtime)</a:t>
            </a:r>
          </a:p>
          <a:p>
            <a:r>
              <a:t>4. Azure GRS/GZRS — geo-redundant cross-region storage with lifecycle management</a:t>
            </a:r>
          </a:p>
          <a:p>
            <a:endParaRPr/>
          </a:p>
          <a:p>
            <a:r>
              <a:t>Outage playbooks cover 3 scenarios: GitHub.com outage (switch to GHES), Azure region outage (failover to paired region), and data corruption (restore from mirror backups + metadata re-import).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 — Next Steps &amp; Resources (2 minutes)</a:t>
            </a:r>
          </a:p>
          <a:p>
            <a:r>
              <a:t>Let's talk about who owns what and what happens next.</a:t>
            </a:r>
          </a:p>
          <a:p>
            <a:endParaRPr/>
          </a:p>
          <a:p>
            <a:r>
              <a:t>DevOps Team: Responsible for running mirror backups, managing GHES snapshots and replicas, executing recovery procedures.</a:t>
            </a:r>
          </a:p>
          <a:p>
            <a:r>
              <a:t>Security Team: Validates air-gapped controls, manages encryption keys, enforces retention policies.</a:t>
            </a:r>
          </a:p>
          <a:p>
            <a:r>
              <a:t>GitHub/Microsoft SE: Architecture design support, migration assistance, escalation handling.</a:t>
            </a:r>
          </a:p>
          <a:p>
            <a:endParaRPr/>
          </a:p>
          <a:p>
            <a:r>
              <a:t>Our recommended next steps:</a:t>
            </a:r>
          </a:p>
          <a:p>
            <a:r>
              <a:t>1. Run a trial GEI migration with 2-3 repos to validate the process</a:t>
            </a:r>
          </a:p>
          <a:p>
            <a:r>
              <a:t>2. Deploy an HA replica in a separate availability zone</a:t>
            </a:r>
          </a:p>
          <a:p>
            <a:r>
              <a:t>3. Implement automated git mirror pipeline on a schedule</a:t>
            </a:r>
          </a:p>
          <a:p>
            <a:r>
              <a:t>4. Configure Azure GRS/GZRS storage with lifecycle rules</a:t>
            </a:r>
          </a:p>
          <a:p>
            <a:r>
              <a:t>5. Conduct tabletop exercises for each outage scenario</a:t>
            </a:r>
          </a:p>
          <a:p>
            <a:endParaRPr/>
          </a:p>
          <a:p>
            <a:r>
              <a:t>All documentation links are on this slide — bookmark them. These are the official GitHub and Microsoft docs for everything we've discussed today.</a:t>
            </a:r>
          </a:p>
          <a:p>
            <a:endParaRPr/>
          </a:p>
          <a:p>
            <a:r>
              <a:t>Now let's transition into the Zero to Agent training!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 — Agenda Slide (2 minutes)</a:t>
            </a:r>
          </a:p>
          <a:p>
            <a:r>
              <a:t>Here's our roadmap for today. We'll start with Welcome &amp; Setup to make sure everyone's environment is ready — Copilot extensions installed, repos cloned, etc.</a:t>
            </a:r>
          </a:p>
          <a:p>
            <a:r>
              <a:t>Then Copilot Fundamentals covers the key concepts: Chat vs Agent mode, prompt engineering best practices, and how to give Copilot the right context.</a:t>
            </a:r>
          </a:p>
          <a:p>
            <a:r>
              <a:t>Hands-On Coding is where the fun starts — we'll build actual features in the Order Management System using Copilot.</a:t>
            </a:r>
          </a:p>
          <a:p>
            <a:r>
              <a:t>After a short break, we'll explore Model Selection — when to use different models, and Copilot Spaces.</a:t>
            </a:r>
          </a:p>
          <a:p>
            <a:r>
              <a:t>Extensibility &amp; MCP covers the advanced customization: custom agents, prompt files, instruction files, and hooks.</a:t>
            </a:r>
          </a:p>
          <a:p>
            <a:r>
              <a:t>Security &amp; Governance is critical for enterprise adoption — guardrails, compliance, content exclusion.</a:t>
            </a:r>
          </a:p>
          <a:p>
            <a:r>
              <a:t>Real-World Scenarios ties it all together with code reviews, documentation generation, and security scanning.</a:t>
            </a:r>
          </a:p>
          <a:p>
            <a:r>
              <a:t>We'll close with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914400"/>
            <a:ext cx="73152" cy="1645920"/>
          </a:xfrm>
          <a:prstGeom prst="round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38636"/>
                </a:solidFill>
                <a:latin typeface="Segoe UI"/>
              </a:defRPr>
            </a:pPr>
            <a:r>
              <a:t>GitHub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Migration &amp; Resilience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GHES → GHEC Migration  •  HA Replica &amp; Geo-Replication  •  Backup &amp; DR  •  Zero to Agent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45-Minute Session  |  Condensed Architecture + Hands-On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GitHub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Resilience Architecture — 4-Layer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Business continuity through defense-in-depth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606040" cy="34747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737360" y="1645920"/>
            <a:ext cx="548640" cy="548640"/>
          </a:xfrm>
          <a:prstGeom prst="ellipse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8636"/>
                </a:solidFill>
                <a:latin typeface="Segoe UI"/>
              </a:defRPr>
            </a:pPr>
            <a:r>
              <a:t>GHEC (SaaS)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Primary collaboration platform</a:t>
            </a:r>
            <a:br/>
            <a:r>
              <a:t>Multi-region redundancy</a:t>
            </a:r>
            <a:br/>
            <a:r>
              <a:t>99.9% uptime SLA</a:t>
            </a:r>
            <a:br/>
            <a:r>
              <a:t>Git mirror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463040"/>
            <a:ext cx="2606040" cy="34747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26280" y="1645920"/>
            <a:ext cx="548640" cy="54864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317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8A6FF"/>
                </a:solidFill>
                <a:latin typeface="Segoe UI"/>
              </a:defRPr>
            </a:pPr>
            <a:r>
              <a:t>GHES + HA Replica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83464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Active/passive failover</a:t>
            </a:r>
            <a:br/>
            <a:r>
              <a:t>Geo-replication (up to 8 replicas)</a:t>
            </a:r>
            <a:br/>
            <a:r>
              <a:t>Full backup snapshots</a:t>
            </a:r>
            <a:br/>
            <a:r>
              <a:t>Air-gapped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2606040" cy="34747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15200" y="1645920"/>
            <a:ext cx="548640" cy="548640"/>
          </a:xfrm>
          <a:prstGeom prst="ellipse">
            <a:avLst/>
          </a:prstGeom>
          <a:solidFill>
            <a:srgbClr val="D29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29E22"/>
                </a:solidFill>
                <a:latin typeface="Segoe UI"/>
              </a:defRPr>
            </a:pPr>
            <a:r>
              <a:t>Azure GRS/GZRS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3464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Geo-redundant storage (16 nines)</a:t>
            </a:r>
            <a:br/>
            <a:r>
              <a:t>Cross-region DR</a:t>
            </a:r>
            <a:br/>
            <a:r>
              <a:t>Lifecycle auto-tiering</a:t>
            </a:r>
            <a:br/>
            <a:r>
              <a:t>Hot → Cool → Archive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463040"/>
            <a:ext cx="2606040" cy="34747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104120" y="1645920"/>
            <a:ext cx="548640" cy="54864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3317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C8CFF"/>
                </a:solidFill>
                <a:latin typeface="Segoe UI"/>
              </a:defRPr>
            </a:pPr>
            <a:r>
              <a:t>Local 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83464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Air-gapped GHES instance</a:t>
            </a:r>
            <a:br/>
            <a:r>
              <a:t>Encrypted offline storage</a:t>
            </a:r>
            <a:br/>
            <a:r>
              <a:t>Cloud-independent ops</a:t>
            </a:r>
            <a:br/>
            <a:r>
              <a:t>Full chain of custody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10698480" cy="64008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38636"/>
                </a:solidFill>
                <a:latin typeface="Segoe UI"/>
              </a:defRPr>
            </a:pPr>
            <a:r>
              <a:t>✅  Near-zero RPO  •  Sub-30-minute RTO  •  Every failure scenario covered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3/5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GHES → GHEC Migration &amp; Backup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Migration via GitHub Enterprise Importer (GEI)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1. Plan — Inventory repos, teams,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2. Trial — Run trial migrations to validate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3. Migrate — Execute production migration (pause work!)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4. Validate — Verify data fidelity, review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5. Cutover — Redirect users, re-enable integrations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303520" cy="457200"/>
          </a:xfrm>
          <a:prstGeom prst="round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D29E22"/>
                </a:solidFill>
                <a:latin typeface="Segoe UI"/>
              </a:defRPr>
            </a:pPr>
            <a:r>
              <a:t>⚠️  GEI does NOT support incremental migration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8636"/>
                </a:solidFill>
                <a:latin typeface="Segoe UI"/>
              </a:defRPr>
            </a:pPr>
            <a:r>
              <a:t>✅ Auto-migrates: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Git source  •  PRs with reviews  •  Issues  •  Wikis  •  Releases  •  Teams &amp; permissions  •  Branch protection → Rulesets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E22"/>
                </a:solidFill>
                <a:latin typeface="Segoe UI"/>
              </a:defRPr>
            </a:pPr>
            <a:r>
              <a:t>🔧 Manual work needed: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Webhooks  •  Actions secrets  •  Deploy keys  •  GitHub Apps  •  Packages  •  Repos &gt; 40 GB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005840"/>
            <a:ext cx="27432" cy="5029200"/>
          </a:xfrm>
          <a:prstGeom prst="round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E22"/>
                </a:solidFill>
                <a:latin typeface="Segoe UI"/>
              </a:defRPr>
            </a:pPr>
            <a:r>
              <a:t>4-Layer Backup &amp; DR Strategy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508760"/>
            <a:ext cx="5303520" cy="685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8636"/>
                </a:solidFill>
                <a:latin typeface="Segoe UI"/>
              </a:defRPr>
            </a:pPr>
            <a:r>
              <a:t>Layer 1: Git Mirror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Daily/hourly git clone --mirror — full repo 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286000"/>
            <a:ext cx="5303520" cy="685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Segoe UI"/>
              </a:defRPr>
            </a:pPr>
            <a:r>
              <a:t>Layer 2: Metadata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06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Weekly REST/GraphQL export — issues, PRs, releases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063240"/>
            <a:ext cx="5303520" cy="685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C8CFF"/>
                </a:solidFill>
                <a:latin typeface="Segoe UI"/>
              </a:defRPr>
            </a:pPr>
            <a:r>
              <a:t>Layer 3: GHES Snapshots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Incremental via backup-utils — zero downtime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840480"/>
            <a:ext cx="5303520" cy="685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3886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29E22"/>
                </a:solidFill>
                <a:latin typeface="Segoe UI"/>
              </a:defRPr>
            </a:pPr>
            <a:r>
              <a:t>Layer 4: Azure GRS/GZRS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160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Geo-redundant cross-region — 16 nines durability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54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349"/>
                </a:solidFill>
                <a:latin typeface="Segoe UI"/>
              </a:defRPr>
            </a:pPr>
            <a:r>
              <a:t>Outage Playbooks: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292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A. GitHub.com outage → Failover to GHES</a:t>
            </a:r>
            <a:br/>
            <a:r>
              <a:t>B. Azure region outage → GRS failover to paired region</a:t>
            </a:r>
            <a:br/>
            <a:r>
              <a:t>C. Data corruption → Restore from mirror + metadata re-import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4/5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Responsibilities, Resources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566160" cy="14630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38636"/>
                </a:solidFill>
                <a:latin typeface="Segoe UI"/>
              </a:defRPr>
            </a:pPr>
            <a:r>
              <a:t>🛠️  DevOps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Execute mirror backups</a:t>
            </a:r>
            <a:br/>
            <a:r>
              <a:t>Manage GHES snapshots &amp; replicas</a:t>
            </a:r>
            <a:br/>
            <a:r>
              <a:t>Run recovery procedures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097280"/>
            <a:ext cx="3566160" cy="14630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19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8A6FF"/>
                </a:solidFill>
                <a:latin typeface="Segoe UI"/>
              </a:defRPr>
            </a:pPr>
            <a:r>
              <a:t>🔒  Security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39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Validate air-gapped controls</a:t>
            </a:r>
            <a:br/>
            <a:r>
              <a:t>Manage encryption keys</a:t>
            </a:r>
            <a:br/>
            <a:r>
              <a:t>Enforce retention policies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8" y="1097280"/>
            <a:ext cx="3566160" cy="14630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758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C8CFF"/>
                </a:solidFill>
                <a:latin typeface="Segoe UI"/>
              </a:defRPr>
            </a:pPr>
            <a:r>
              <a:t>🤝  GitHub / Microsoft 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8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Architecture design support</a:t>
            </a:r>
            <a:br/>
            <a:r>
              <a:t>Migration assistance</a:t>
            </a:r>
            <a:br/>
            <a:r>
              <a:t>Escalation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8636"/>
                </a:solidFill>
                <a:latin typeface="Segoe UI"/>
              </a:defRPr>
            </a:pPr>
            <a:r>
              <a:t>🚀  Recommended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1.  Run trial GEI migration with 2-3 repos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11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2.  Deploy HA replica in separate AZ/region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3.  Implement automated git mirror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4.  Configure Azure GRS/GZRS + lifecycle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5.  Conduct tabletop exercise for each outage scenario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📚  Official 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46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Git Mirror Backup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474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docs.github.com/.../backing-up-a-repository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94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GitHub Backup Utilities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023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github.com/github/backup-utils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343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GHES HA Replica 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72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docs.github.com/.../creating-a-high-availability-replica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92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GHES Geo-Replication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120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docs.github.com/.../about-geo-replication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440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Azure GRS/GZRS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669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learn.microsoft.com/.../storage-redundancy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5/5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Zero to Agent — Training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From Copilot basics to building custom agents in 45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502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361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rPr sz="1400" b="1">
                <a:solidFill>
                  <a:srgbClr val="FFFFFF"/>
                </a:solidFill>
                <a:latin typeface="Segoe UI"/>
              </a:rPr>
              <a:t>Welcome &amp; Setup</a:t>
            </a:r>
            <a:r>
              <a:rPr sz="1300" b="0">
                <a:solidFill>
                  <a:srgbClr val="8B949E"/>
                </a:solidFill>
                <a:latin typeface="Segoe UI"/>
              </a:rPr>
              <a:t>  —  Environment checks, Copilot extension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29968"/>
            <a:ext cx="10698480" cy="502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rPr sz="1400" b="1">
                <a:solidFill>
                  <a:srgbClr val="FFFFFF"/>
                </a:solidFill>
                <a:latin typeface="Segoe UI"/>
              </a:rPr>
              <a:t>Copilot Fundamentals</a:t>
            </a:r>
            <a:r>
              <a:rPr sz="1300" b="0">
                <a:solidFill>
                  <a:srgbClr val="8B949E"/>
                </a:solidFill>
                <a:latin typeface="Segoe UI"/>
              </a:rPr>
              <a:t>  —  Chat vs Agent, prompt engineering, context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96896"/>
            <a:ext cx="10698480" cy="502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670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700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rPr sz="1400" b="1">
                <a:solidFill>
                  <a:srgbClr val="FFFFFF"/>
                </a:solidFill>
                <a:latin typeface="Segoe UI"/>
              </a:rPr>
              <a:t>Hands-On Coding</a:t>
            </a:r>
            <a:r>
              <a:rPr sz="1300" b="0">
                <a:solidFill>
                  <a:srgbClr val="8B949E"/>
                </a:solidFill>
                <a:latin typeface="Segoe UI"/>
              </a:rPr>
              <a:t>  —  Building features in the Order Management 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63824"/>
            <a:ext cx="10698480" cy="502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2369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3697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rPr sz="1400" b="1">
                <a:solidFill>
                  <a:srgbClr val="FFFFFF"/>
                </a:solidFill>
                <a:latin typeface="Segoe UI"/>
              </a:rPr>
              <a:t>Break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30752"/>
            <a:ext cx="10698480" cy="502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8039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0390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rPr sz="1400" b="1">
                <a:solidFill>
                  <a:srgbClr val="FFFFFF"/>
                </a:solidFill>
                <a:latin typeface="Segoe UI"/>
              </a:rPr>
              <a:t>Model Selection &amp; Advanced Features</a:t>
            </a:r>
            <a:r>
              <a:rPr sz="1300" b="0">
                <a:solidFill>
                  <a:srgbClr val="8B949E"/>
                </a:solidFill>
                <a:latin typeface="Segoe UI"/>
              </a:rPr>
              <a:t>  —  Choosing the right model, Copilot Spaces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97680"/>
            <a:ext cx="10698480" cy="502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708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rPr sz="1400" b="1">
                <a:solidFill>
                  <a:srgbClr val="FFFFFF"/>
                </a:solidFill>
                <a:latin typeface="Segoe UI"/>
              </a:rPr>
              <a:t>Extensibility &amp; MCP</a:t>
            </a:r>
            <a:r>
              <a:rPr sz="1300" b="0">
                <a:solidFill>
                  <a:srgbClr val="8B949E"/>
                </a:solidFill>
                <a:latin typeface="Segoe UI"/>
              </a:rPr>
              <a:t>  —  Custom agents, prompt files, instruction files, hooks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64608"/>
            <a:ext cx="10698480" cy="502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937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37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rPr sz="1400" b="1">
                <a:solidFill>
                  <a:srgbClr val="FFFFFF"/>
                </a:solidFill>
                <a:latin typeface="Segoe UI"/>
              </a:rPr>
              <a:t>Security &amp; Governance</a:t>
            </a:r>
            <a:r>
              <a:rPr sz="1300" b="0">
                <a:solidFill>
                  <a:srgbClr val="8B949E"/>
                </a:solidFill>
                <a:latin typeface="Segoe UI"/>
              </a:rPr>
              <a:t>  —  Enterprise guardrails, compliance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31536"/>
            <a:ext cx="10698480" cy="502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5046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50468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rPr sz="1400" b="1">
                <a:solidFill>
                  <a:srgbClr val="FFFFFF"/>
                </a:solidFill>
                <a:latin typeface="Segoe UI"/>
              </a:rPr>
              <a:t>Real-World Scenarios</a:t>
            </a:r>
            <a:r>
              <a:rPr sz="1300" b="0">
                <a:solidFill>
                  <a:srgbClr val="8B949E"/>
                </a:solidFill>
                <a:latin typeface="Segoe UI"/>
              </a:rPr>
              <a:t>  —  Code reviews, documentation, security scanning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998464"/>
            <a:ext cx="10698480" cy="502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60716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07161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rPr sz="1400" b="1">
                <a:solidFill>
                  <a:srgbClr val="FFFFFF"/>
                </a:solidFill>
                <a:latin typeface="Segoe UI"/>
              </a:rPr>
              <a:t>Q&amp;A &amp; Next Steps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2/5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1467</Words>
  <Application>Microsoft Office PowerPoint</Application>
  <PresentationFormat>Widescreen</PresentationFormat>
  <Paragraphs>150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Saurabh Talwar</cp:lastModifiedBy>
  <cp:revision>2</cp:revision>
  <dcterms:created xsi:type="dcterms:W3CDTF">2013-01-27T09:14:16Z</dcterms:created>
  <dcterms:modified xsi:type="dcterms:W3CDTF">2026-03-31T05:25:33Z</dcterms:modified>
  <cp:category/>
</cp:coreProperties>
</file>