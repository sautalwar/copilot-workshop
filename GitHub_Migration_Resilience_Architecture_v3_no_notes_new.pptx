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914400"/>
            <a:ext cx="73152" cy="1645920"/>
          </a:xfrm>
          <a:prstGeom prst="round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38636"/>
                </a:solidFill>
                <a:latin typeface="Segoe UI"/>
              </a:defRPr>
            </a:pPr>
            <a:r>
              <a:t>GitHub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Migration &amp; Resilience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GHES → GHEC Migration  •  HA Replica &amp; Geo-Replication  •  Backup &amp; DR  •  Zero to Agent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45-Minute Session  |  Condensed Architecture + Hands-On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GitHub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Migration &amp; Resilience Architecture — What we'll cover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658368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655064"/>
            <a:ext cx="457200" cy="457200"/>
          </a:xfrm>
          <a:prstGeom prst="ellipse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27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Resilience Architecture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901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Segoe UI"/>
              </a:defRPr>
            </a:pPr>
            <a:r>
              <a:t>4-layer architecture for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04288"/>
            <a:ext cx="10698480" cy="658368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404872"/>
            <a:ext cx="457200" cy="4572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GHES → GHEC Migration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651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Segoe UI"/>
              </a:defRPr>
            </a:pPr>
            <a:r>
              <a:t>Enterprise Importer workflow, phases &amp; tooling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54096"/>
            <a:ext cx="10698480" cy="658368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3154680"/>
            <a:ext cx="457200" cy="457200"/>
          </a:xfrm>
          <a:prstGeom prst="ellipse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1272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HA Replica &amp; Geo-Replication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4015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Segoe UI"/>
              </a:defRPr>
            </a:pPr>
            <a:r>
              <a:t>Active/passive failover, geo-replicas, DNS configuration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03904"/>
            <a:ext cx="10698480" cy="658368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3904488"/>
            <a:ext cx="457200" cy="457200"/>
          </a:xfrm>
          <a:prstGeom prst="ellipse">
            <a:avLst/>
          </a:prstGeom>
          <a:solidFill>
            <a:srgbClr val="D29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8770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Backup &amp; DR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151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Segoe UI"/>
              </a:defRPr>
            </a:pPr>
            <a:r>
              <a:t>4-layer backup approach: Mirror, Metadata, Snapshots, Azure DR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53712"/>
            <a:ext cx="10698480" cy="658368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" y="4654296"/>
            <a:ext cx="457200" cy="457200"/>
          </a:xfrm>
          <a:prstGeom prst="ellipse">
            <a:avLst/>
          </a:prstGeom>
          <a:solidFill>
            <a:srgbClr val="C9D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6268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Responsibilities &amp; Next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90118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Segoe UI"/>
              </a:defRPr>
            </a:pPr>
            <a:r>
              <a:t>Team roles, documentation links, action items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03520"/>
            <a:ext cx="10698480" cy="658368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5404104"/>
            <a:ext cx="457200" cy="457200"/>
          </a:xfrm>
          <a:prstGeom prst="ellipse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376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56509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Segoe UI"/>
              </a:defRPr>
            </a:pPr>
            <a:r>
              <a:t>Live walkthrough of key architecture components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Zero to Agent — Training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From Copilot basics to building custom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698480" cy="457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80744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rPr sz="1300" b="1">
                <a:solidFill>
                  <a:srgbClr val="FFFFFF"/>
                </a:solidFill>
                <a:latin typeface="Segoe UI"/>
              </a:rPr>
              <a:t>Welcome &amp; Setup</a:t>
            </a:r>
            <a:r>
              <a:rPr sz="1200" b="0">
                <a:solidFill>
                  <a:srgbClr val="8B949E"/>
                </a:solidFill>
                <a:latin typeface="Segoe UI"/>
              </a:rPr>
              <a:t>  —  Environment checks, Copilot extension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19656"/>
            <a:ext cx="10698480" cy="457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7452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rPr sz="1300" b="1">
                <a:solidFill>
                  <a:srgbClr val="FFFFFF"/>
                </a:solidFill>
                <a:latin typeface="Segoe UI"/>
              </a:rPr>
              <a:t>Copilot Fundamentals</a:t>
            </a:r>
            <a:r>
              <a:rPr sz="1200" b="0">
                <a:solidFill>
                  <a:srgbClr val="8B949E"/>
                </a:solidFill>
                <a:latin typeface="Segoe UI"/>
              </a:rPr>
              <a:t>  —  Chat vs Agent, prompt engineering, context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13432"/>
            <a:ext cx="10698480" cy="457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6829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68296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rPr sz="1300" b="1">
                <a:solidFill>
                  <a:srgbClr val="FFFFFF"/>
                </a:solidFill>
                <a:latin typeface="Segoe UI"/>
              </a:rPr>
              <a:t>Hands-On Coding</a:t>
            </a:r>
            <a:r>
              <a:rPr sz="1200" b="0">
                <a:solidFill>
                  <a:srgbClr val="8B949E"/>
                </a:solidFill>
                <a:latin typeface="Segoe UI"/>
              </a:rPr>
              <a:t>  —  Building features in the Order Management System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07208"/>
            <a:ext cx="10698480" cy="457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6207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6207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rPr sz="1300" b="1">
                <a:solidFill>
                  <a:srgbClr val="FFFFFF"/>
                </a:solidFill>
                <a:latin typeface="Segoe UI"/>
              </a:rPr>
              <a:t>Break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00984"/>
            <a:ext cx="10698480" cy="457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35584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rPr sz="1300" b="1">
                <a:solidFill>
                  <a:srgbClr val="FFFFFF"/>
                </a:solidFill>
                <a:latin typeface="Segoe UI"/>
              </a:rPr>
              <a:t>Model Selection &amp; Advanced Features</a:t>
            </a:r>
            <a:r>
              <a:rPr sz="1200" b="0">
                <a:solidFill>
                  <a:srgbClr val="8B949E"/>
                </a:solidFill>
                <a:latin typeface="Segoe UI"/>
              </a:rPr>
              <a:t>  —  Choosing the right model, Copilot Spaces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94760"/>
            <a:ext cx="10698480" cy="457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4962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849624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rPr sz="1300" b="1">
                <a:solidFill>
                  <a:srgbClr val="FFFFFF"/>
                </a:solidFill>
                <a:latin typeface="Segoe UI"/>
              </a:rPr>
              <a:t>Extensibility &amp; MCP</a:t>
            </a:r>
            <a:r>
              <a:rPr sz="1200" b="0">
                <a:solidFill>
                  <a:srgbClr val="8B949E"/>
                </a:solidFill>
                <a:latin typeface="Segoe UI"/>
              </a:rPr>
              <a:t>  —  Custom agents, prompt files, instruction files, hooks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88536"/>
            <a:ext cx="10698480" cy="457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34340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34340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rPr sz="1300" b="1">
                <a:solidFill>
                  <a:srgbClr val="FFFFFF"/>
                </a:solidFill>
                <a:latin typeface="Segoe UI"/>
              </a:rPr>
              <a:t>Security &amp; Governance</a:t>
            </a:r>
            <a:r>
              <a:rPr sz="1200" b="0">
                <a:solidFill>
                  <a:srgbClr val="8B949E"/>
                </a:solidFill>
                <a:latin typeface="Segoe UI"/>
              </a:rPr>
              <a:t>  —  Enterprise guardrails, compliance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782312"/>
            <a:ext cx="10698480" cy="457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3717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837176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rPr sz="1300" b="1">
                <a:solidFill>
                  <a:srgbClr val="FFFFFF"/>
                </a:solidFill>
                <a:latin typeface="Segoe UI"/>
              </a:rPr>
              <a:t>Real-World Scenarios</a:t>
            </a:r>
            <a:r>
              <a:rPr sz="1200" b="0">
                <a:solidFill>
                  <a:srgbClr val="8B949E"/>
                </a:solidFill>
                <a:latin typeface="Segoe UI"/>
              </a:rPr>
              <a:t>  —  Code reviews, documentation, security scanning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276088"/>
            <a:ext cx="10698480" cy="457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309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33095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rPr sz="1300" b="1">
                <a:solidFill>
                  <a:srgbClr val="FFFFFF"/>
                </a:solidFill>
                <a:latin typeface="Segoe UI"/>
              </a:rPr>
              <a:t>Q&amp;A &amp; Next Steps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769864"/>
            <a:ext cx="10698480" cy="457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82472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82472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rPr sz="1300" b="1">
                <a:solidFill>
                  <a:srgbClr val="FFFFFF"/>
                </a:solidFill>
                <a:latin typeface="Segoe UI"/>
              </a:rPr>
              <a:t>Demo</a:t>
            </a:r>
            <a:r>
              <a:rPr sz="1200" b="0">
                <a:solidFill>
                  <a:srgbClr val="8B949E"/>
                </a:solidFill>
                <a:latin typeface="Segoe UI"/>
              </a:rPr>
              <a:t>  —  Live demo of Copilot agent capabilities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Your Three Priorities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Migrating to GHEC, building resilience, and protecting your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657600" cy="4389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38636"/>
                </a:solidFill>
                <a:latin typeface="Segoe UI"/>
              </a:defRPr>
            </a:pPr>
            <a:r>
              <a:t>Migration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Segoe UI"/>
              </a:defRPr>
            </a:pPr>
            <a:r>
              <a:t>GHES → GHEC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• GitHub Enterprise Importer (GEI) — self-serve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• Repos, PRs, issues, teams migrate automatically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• Branch protection rules convert to Rulesets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148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• 5-phase: Plan → Trial → Migrate → Validate → Cutover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709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• Webhooks, secrets, deploy keys — planned manual 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371600"/>
            <a:ext cx="3657600" cy="4389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  <a:latin typeface="Segoe UI"/>
              </a:defRPr>
            </a:pPr>
            <a:r>
              <a:t>Resilience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8745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Segoe UI"/>
              </a:defRPr>
            </a:pPr>
            <a:r>
              <a:t>4-Layer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331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• Layer A: GHEC — Multi-region SaaS, 99.9% SLA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926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• Layer B: GHES + HA — Active/passive failover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520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• Layer C: Azure GRS/GZRS — Geo-redundant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148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• Layer D: Air-Gapped — Cloud-independent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709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• Every failure scenario covered by at least one layer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371600"/>
            <a:ext cx="3657600" cy="4389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29E22"/>
                </a:solidFill>
                <a:latin typeface="Segoe UI"/>
              </a:defRPr>
            </a:pPr>
            <a:r>
              <a:t>Backup &amp; DR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18745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Segoe UI"/>
              </a:defRPr>
            </a:pPr>
            <a:r>
              <a:t>Defense-in-Depth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331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• Git mirror backups — daily/hourly full repo history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926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• Metadata API exports — issues, PRs, releases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520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• GHES snapshots — incremental, zero-downtime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1148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• Azure geo-redundant storage — 16 nines durability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709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• Outage playbooks for 3 failure scenarios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943600"/>
            <a:ext cx="11064240" cy="50292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8636"/>
                </a:solidFill>
                <a:latin typeface="Segoe UI"/>
              </a:defRPr>
            </a:pPr>
            <a:r>
              <a:t>✅  Migration is the beginning — Resilience &amp; Backup ensure your investment is protected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Resilience Architecture — 4-Layer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Business continuity through defense-in-depth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606040" cy="34747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37360" y="1645920"/>
            <a:ext cx="548640" cy="548640"/>
          </a:xfrm>
          <a:prstGeom prst="ellipse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38636"/>
                </a:solidFill>
                <a:latin typeface="Segoe UI"/>
              </a:defRPr>
            </a:pPr>
            <a:r>
              <a:t>GHEC (SaaS)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Primary collaboration platform</a:t>
            </a:r>
            <a:br/>
            <a:r>
              <a:t>Multi-region redundancy</a:t>
            </a:r>
            <a:br/>
            <a:r>
              <a:t>99.9% uptime SLA</a:t>
            </a:r>
            <a:br/>
            <a:r>
              <a:t>Git mirror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463040"/>
            <a:ext cx="2606040" cy="34747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26280" y="1645920"/>
            <a:ext cx="548640" cy="54864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3317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8A6FF"/>
                </a:solidFill>
                <a:latin typeface="Segoe UI"/>
              </a:defRPr>
            </a:pPr>
            <a:r>
              <a:t>GHES + HA Replica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83464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Active/passive failover</a:t>
            </a:r>
            <a:br/>
            <a:r>
              <a:t>Geo-replication (up to 8 replicas)</a:t>
            </a:r>
            <a:br/>
            <a:r>
              <a:t>Full backup snapshots</a:t>
            </a:r>
            <a:br/>
            <a:r>
              <a:t>Air-gapped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2606040" cy="34747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0" y="1645920"/>
            <a:ext cx="548640" cy="548640"/>
          </a:xfrm>
          <a:prstGeom prst="ellipse">
            <a:avLst/>
          </a:prstGeom>
          <a:solidFill>
            <a:srgbClr val="D29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317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29E22"/>
                </a:solidFill>
                <a:latin typeface="Segoe UI"/>
              </a:defRPr>
            </a:pPr>
            <a:r>
              <a:t>Azure GRS/GZRS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3464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Geo-redundant storage (16 nines)</a:t>
            </a:r>
            <a:br/>
            <a:r>
              <a:t>Cross-region DR</a:t>
            </a:r>
            <a:br/>
            <a:r>
              <a:t>Lifecycle auto-tiering</a:t>
            </a:r>
            <a:br/>
            <a:r>
              <a:t>Hot → Cool → Archive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463040"/>
            <a:ext cx="2606040" cy="34747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04120" y="1645920"/>
            <a:ext cx="548640" cy="548640"/>
          </a:xfrm>
          <a:prstGeom prst="ellipse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3317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BC8CFF"/>
                </a:solidFill>
                <a:latin typeface="Segoe UI"/>
              </a:defRPr>
            </a:pPr>
            <a:r>
              <a:t>Local 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83464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Air-gapped GHES instance</a:t>
            </a:r>
            <a:br/>
            <a:r>
              <a:t>Encrypted offline storage</a:t>
            </a:r>
            <a:br/>
            <a:r>
              <a:t>Cloud-independent ops</a:t>
            </a:r>
            <a:br/>
            <a:r>
              <a:t>Full chain of custody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212080"/>
            <a:ext cx="10698480" cy="64008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8636"/>
                </a:solidFill>
                <a:latin typeface="Segoe UI"/>
              </a:defRPr>
            </a:pPr>
            <a:r>
              <a:t>✅  Near-zero RPO  •  Sub-30-minute RTO  •  Every failure scenario covered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GHES → GHEC Migration &amp; Backup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Segoe UI"/>
              </a:defRPr>
            </a:pPr>
            <a:r>
              <a:t>Migration via GitHub Enterprise Importer (GEI)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1. Plan — Inventory repos, teams, dependencies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2. Trial — Run trial migrations to validate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3. Migrate — Execute production migration (pause work!)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4. Validate — Verify data fidelity, review 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5. Cutover — Redirect users, re-enable integrations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5303520" cy="457200"/>
          </a:xfrm>
          <a:prstGeom prst="round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29E22"/>
                </a:solidFill>
                <a:latin typeface="Segoe UI"/>
              </a:defRPr>
            </a:pPr>
            <a:r>
              <a:t>⚠️  GEI does NOT support incremental migration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8636"/>
                </a:solidFill>
                <a:latin typeface="Segoe UI"/>
              </a:defRPr>
            </a:pPr>
            <a:r>
              <a:t>✅ Auto-migrates: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Git source  •  PRs with reviews  •  Issues  •  Wikis  •  Releases  •  Teams &amp; permissions  •  Branch protection → Rulesets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29E22"/>
                </a:solidFill>
                <a:latin typeface="Segoe UI"/>
              </a:defRPr>
            </a:pPr>
            <a:r>
              <a:t>🔧 Manual work needed: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Webhooks  •  Actions secrets  •  Deploy keys  •  GitHub Apps  •  Packages  •  Repos &gt; 40 GB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005840"/>
            <a:ext cx="27432" cy="5029200"/>
          </a:xfrm>
          <a:prstGeom prst="round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29E22"/>
                </a:solidFill>
                <a:latin typeface="Segoe UI"/>
              </a:defRPr>
            </a:pPr>
            <a:r>
              <a:t>4-Layer Backup &amp; DR Strategy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508760"/>
            <a:ext cx="5303520" cy="685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554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38636"/>
                </a:solidFill>
                <a:latin typeface="Segoe UI"/>
              </a:defRPr>
            </a:pPr>
            <a:r>
              <a:t>Layer 1: Git Mirror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Daily/hourly git clone --mirror — full repo history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286000"/>
            <a:ext cx="5303520" cy="685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331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Segoe UI"/>
              </a:defRPr>
            </a:pPr>
            <a:r>
              <a:t>Layer 2: Metadata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606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Weekly REST/GraphQL export — issues, PRs, releases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063240"/>
            <a:ext cx="5303520" cy="685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108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C8CFF"/>
                </a:solidFill>
                <a:latin typeface="Segoe UI"/>
              </a:defRPr>
            </a:pPr>
            <a:r>
              <a:t>Layer 3: GHES Snapshots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383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Incremental via backup-utils — zero downtime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840480"/>
            <a:ext cx="5303520" cy="685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886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29E22"/>
                </a:solidFill>
                <a:latin typeface="Segoe UI"/>
              </a:defRPr>
            </a:pPr>
            <a:r>
              <a:t>Layer 4: Azure GRS/GZRS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160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Geo-redundant cross-region — 16 nines durability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754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5349"/>
                </a:solidFill>
                <a:latin typeface="Segoe UI"/>
              </a:defRPr>
            </a:pPr>
            <a:r>
              <a:t>Outage Playbooks: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0292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A. GitHub.com outage → Failover to GHES</a:t>
            </a:r>
            <a:br/>
            <a:r>
              <a:t>B. Azure region outage → GRS failover to paired region</a:t>
            </a:r>
            <a:br/>
            <a:r>
              <a:t>C. Data corruption → Restore from mirror + metadata re-import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Responsibilities, Resources &amp;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566160" cy="14630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188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38636"/>
                </a:solidFill>
                <a:latin typeface="Segoe UI"/>
              </a:defRPr>
            </a:pPr>
            <a:r>
              <a:t>🛠️  DevOps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Execute mirror backups</a:t>
            </a:r>
            <a:br/>
            <a:r>
              <a:t>Manage GHES snapshots &amp; replicas</a:t>
            </a:r>
            <a:br/>
            <a:r>
              <a:t>Run recovery procedures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097280"/>
            <a:ext cx="3566160" cy="14630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19" y="1188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8A6FF"/>
                </a:solidFill>
                <a:latin typeface="Segoe UI"/>
              </a:defRPr>
            </a:pPr>
            <a:r>
              <a:t>🔒  Security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39" y="1554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Validate air-gapped controls</a:t>
            </a:r>
            <a:br/>
            <a:r>
              <a:t>Manage encryption keys</a:t>
            </a:r>
            <a:br/>
            <a:r>
              <a:t>Enforce retention policies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598" y="1097280"/>
            <a:ext cx="3566160" cy="14630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58" y="1188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C8CFF"/>
                </a:solidFill>
                <a:latin typeface="Segoe UI"/>
              </a:defRPr>
            </a:pPr>
            <a:r>
              <a:t>🤝  GitHub / Microsoft 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8" y="1554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Architecture design support</a:t>
            </a:r>
            <a:br/>
            <a:r>
              <a:t>Migration assistance</a:t>
            </a:r>
            <a:br/>
            <a:r>
              <a:t>Escalation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8636"/>
                </a:solidFill>
                <a:latin typeface="Segoe UI"/>
              </a:defRPr>
            </a:pPr>
            <a:r>
              <a:t>🚀  Recommended 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1.  Run trial GEI migration with 2-3 repos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11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2.  Deploy HA replica in separate AZ/region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3.  Implement automated git mirror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4.  Configure Azure GRS/GZRS + lifecycle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5.  Conduct tabletop exercise for each outage scenario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Segoe UI"/>
              </a:defRPr>
            </a:pPr>
            <a:r>
              <a:t>📚  Official Documentation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246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Git Mirror Backup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4747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docs.github.com/.../backing-up-a-repository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7947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GitHub Backup Utilities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0233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github.com/github/backup-utils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343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GHES HA Replica Setup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572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docs.github.com/.../creating-a-high-availability-replica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8920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GHES Geo-Replication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1206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docs.github.com/.../about-geo-replication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4406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Azure GRS/GZRS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669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learn.microsoft.com/.../storage-redundancy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